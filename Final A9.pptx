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5" r:id="rId18"/>
    <p:sldId id="278" r:id="rId19"/>
    <p:sldId id="279" r:id="rId20"/>
    <p:sldId id="277" r:id="rId21"/>
    <p:sldId id="276" r:id="rId22"/>
    <p:sldId id="280" r:id="rId23"/>
    <p:sldId id="274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01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3628" y="139700"/>
            <a:ext cx="8604885" cy="1069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6455" y="824941"/>
            <a:ext cx="14648815" cy="125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638426" y="2802381"/>
            <a:ext cx="14451330" cy="5375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ciencedirect.com/science/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7313" y="1130934"/>
            <a:ext cx="177736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latin typeface="Georgia"/>
                <a:cs typeface="Georgia"/>
              </a:rPr>
              <a:t>TITLE</a:t>
            </a:r>
            <a:endParaRPr sz="48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25979" y="2981655"/>
            <a:ext cx="1224153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Times New Roman"/>
                <a:cs typeface="Times New Roman"/>
              </a:rPr>
              <a:t>A</a:t>
            </a:r>
            <a:r>
              <a:rPr sz="4000" spc="-300" dirty="0">
                <a:latin typeface="Times New Roman"/>
                <a:cs typeface="Times New Roman"/>
              </a:rPr>
              <a:t> </a:t>
            </a:r>
            <a:r>
              <a:rPr sz="4000" spc="-25" dirty="0">
                <a:latin typeface="Times New Roman"/>
                <a:cs typeface="Times New Roman"/>
              </a:rPr>
              <a:t>Proactive</a:t>
            </a:r>
            <a:r>
              <a:rPr sz="4000" spc="-245" dirty="0">
                <a:latin typeface="Times New Roman"/>
                <a:cs typeface="Times New Roman"/>
              </a:rPr>
              <a:t> </a:t>
            </a:r>
            <a:r>
              <a:rPr sz="4000" dirty="0">
                <a:latin typeface="Times New Roman"/>
                <a:cs typeface="Times New Roman"/>
              </a:rPr>
              <a:t>stress</a:t>
            </a:r>
            <a:r>
              <a:rPr sz="4000" spc="-24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management</a:t>
            </a:r>
            <a:r>
              <a:rPr sz="4000" spc="-15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Framework</a:t>
            </a:r>
            <a:r>
              <a:rPr sz="4000" spc="-1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using</a:t>
            </a:r>
            <a:r>
              <a:rPr sz="4000" spc="-220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behavioral </a:t>
            </a:r>
            <a:r>
              <a:rPr sz="4000" dirty="0">
                <a:latin typeface="Times New Roman"/>
                <a:cs typeface="Times New Roman"/>
              </a:rPr>
              <a:t>and</a:t>
            </a:r>
            <a:r>
              <a:rPr sz="4000" spc="-105" dirty="0">
                <a:latin typeface="Times New Roman"/>
                <a:cs typeface="Times New Roman"/>
              </a:rPr>
              <a:t> </a:t>
            </a:r>
            <a:r>
              <a:rPr sz="4000" spc="-30" dirty="0">
                <a:latin typeface="Times New Roman"/>
                <a:cs typeface="Times New Roman"/>
              </a:rPr>
              <a:t>lifestyle</a:t>
            </a:r>
            <a:r>
              <a:rPr sz="4000" spc="-235" dirty="0">
                <a:latin typeface="Times New Roman"/>
                <a:cs typeface="Times New Roman"/>
              </a:rPr>
              <a:t> </a:t>
            </a:r>
            <a:r>
              <a:rPr sz="4000" spc="-10" dirty="0">
                <a:latin typeface="Times New Roman"/>
                <a:cs typeface="Times New Roman"/>
              </a:rPr>
              <a:t>Analytics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28341" y="5316752"/>
            <a:ext cx="4663440" cy="1808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3400" b="1" spc="-25" dirty="0">
                <a:latin typeface="Times New Roman"/>
                <a:cs typeface="Times New Roman"/>
              </a:rPr>
              <a:t>Guided</a:t>
            </a:r>
            <a:r>
              <a:rPr sz="3400" b="1" spc="-155" dirty="0">
                <a:latin typeface="Times New Roman"/>
                <a:cs typeface="Times New Roman"/>
              </a:rPr>
              <a:t> </a:t>
            </a:r>
            <a:r>
              <a:rPr sz="3400" b="1" spc="-25" dirty="0">
                <a:latin typeface="Times New Roman"/>
                <a:cs typeface="Times New Roman"/>
              </a:rPr>
              <a:t>by: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400" spc="-50" dirty="0">
                <a:latin typeface="Times New Roman"/>
                <a:cs typeface="Times New Roman"/>
              </a:rPr>
              <a:t>Mrs.Ch.Vijaya</a:t>
            </a:r>
            <a:r>
              <a:rPr sz="3400" spc="-9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Jyothi</a:t>
            </a:r>
            <a:endParaRPr sz="3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3400" dirty="0">
                <a:latin typeface="Times New Roman"/>
                <a:cs typeface="Times New Roman"/>
              </a:rPr>
              <a:t>Asst</a:t>
            </a:r>
            <a:r>
              <a:rPr sz="3400" spc="-1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professor</a:t>
            </a:r>
            <a:r>
              <a:rPr sz="3400" spc="-8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of</a:t>
            </a:r>
            <a:r>
              <a:rPr sz="3400" spc="-175" dirty="0">
                <a:latin typeface="Times New Roman"/>
                <a:cs typeface="Times New Roman"/>
              </a:rPr>
              <a:t> </a:t>
            </a:r>
            <a:r>
              <a:rPr sz="3400" dirty="0">
                <a:latin typeface="Times New Roman"/>
                <a:cs typeface="Times New Roman"/>
              </a:rPr>
              <a:t>CSE</a:t>
            </a:r>
            <a:r>
              <a:rPr sz="3400" spc="-204" dirty="0">
                <a:latin typeface="Times New Roman"/>
                <a:cs typeface="Times New Roman"/>
              </a:rPr>
              <a:t> </a:t>
            </a:r>
            <a:r>
              <a:rPr sz="3400" spc="-20" dirty="0">
                <a:latin typeface="Times New Roman"/>
                <a:cs typeface="Times New Roman"/>
              </a:rPr>
              <a:t>dept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642217" y="5074907"/>
            <a:ext cx="4470400" cy="295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999"/>
              </a:lnSpc>
              <a:spcBef>
                <a:spcPts val="100"/>
              </a:spcBef>
            </a:pPr>
            <a:r>
              <a:rPr sz="3400" b="1" spc="-10" dirty="0">
                <a:latin typeface="Times New Roman"/>
                <a:cs typeface="Times New Roman"/>
              </a:rPr>
              <a:t>TeamA9: </a:t>
            </a:r>
            <a:r>
              <a:rPr sz="3400" spc="-30" dirty="0">
                <a:latin typeface="Times New Roman"/>
                <a:cs typeface="Times New Roman"/>
              </a:rPr>
              <a:t>P.Samatha(23UP1A0550) D.Swarani(23UP1A0515) </a:t>
            </a:r>
            <a:r>
              <a:rPr sz="3400" spc="-20" dirty="0">
                <a:latin typeface="Times New Roman"/>
                <a:cs typeface="Times New Roman"/>
              </a:rPr>
              <a:t>C.Nimitha(23UP1A0514) G.Pavani</a:t>
            </a:r>
            <a:r>
              <a:rPr sz="3400" spc="-165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(23UP1A0521)</a:t>
            </a:r>
            <a:endParaRPr sz="3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54851" y="1319021"/>
            <a:ext cx="314833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latin typeface="Georgia"/>
                <a:cs typeface="Georgia"/>
              </a:rPr>
              <a:t>ABSTRACT</a:t>
            </a:r>
            <a:endParaRPr sz="48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285238" y="2954781"/>
            <a:ext cx="14024610" cy="5965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5999"/>
              </a:lnSpc>
              <a:spcBef>
                <a:spcPts val="95"/>
              </a:spcBef>
            </a:pPr>
            <a:r>
              <a:rPr sz="2400" dirty="0">
                <a:latin typeface="Georgia"/>
                <a:cs typeface="Georgia"/>
              </a:rPr>
              <a:t>In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recent</a:t>
            </a:r>
            <a:r>
              <a:rPr sz="2400" spc="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years,</a:t>
            </a:r>
            <a:r>
              <a:rPr sz="2400" spc="1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1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1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emerged</a:t>
            </a:r>
            <a:r>
              <a:rPr sz="2400" spc="1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critical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issue</a:t>
            </a:r>
            <a:r>
              <a:rPr sz="2400" spc="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affecting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both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mental</a:t>
            </a:r>
            <a:r>
              <a:rPr sz="2400" spc="1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physical</a:t>
            </a:r>
            <a:r>
              <a:rPr sz="2400" spc="1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health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due</a:t>
            </a:r>
            <a:r>
              <a:rPr sz="2400" spc="15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to </a:t>
            </a:r>
            <a:r>
              <a:rPr sz="2400" dirty="0">
                <a:latin typeface="Georgia"/>
                <a:cs typeface="Georgia"/>
              </a:rPr>
              <a:t>demanding</a:t>
            </a:r>
            <a:r>
              <a:rPr sz="2400" spc="3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3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environments,</a:t>
            </a:r>
            <a:r>
              <a:rPr sz="2400" spc="3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irregular</a:t>
            </a:r>
            <a:r>
              <a:rPr sz="2400" spc="3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lifestyles,</a:t>
            </a:r>
            <a:r>
              <a:rPr sz="2400" spc="3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3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increased</a:t>
            </a:r>
            <a:r>
              <a:rPr sz="2400" spc="3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dependence</a:t>
            </a:r>
            <a:r>
              <a:rPr sz="2400" spc="3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</a:t>
            </a:r>
            <a:r>
              <a:rPr sz="2400" spc="3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digital</a:t>
            </a:r>
            <a:r>
              <a:rPr sz="2400" spc="3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technology. </a:t>
            </a:r>
            <a:r>
              <a:rPr sz="2400" dirty="0">
                <a:latin typeface="Georgia"/>
                <a:cs typeface="Georgia"/>
              </a:rPr>
              <a:t>Most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existing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management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systems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reactive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nature, focusing</a:t>
            </a:r>
            <a:r>
              <a:rPr sz="2400" spc="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 treatment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only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after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stress </a:t>
            </a:r>
            <a:r>
              <a:rPr sz="2400" dirty="0">
                <a:latin typeface="Georgia"/>
                <a:cs typeface="Georgia"/>
              </a:rPr>
              <a:t>symptoms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become</a:t>
            </a:r>
            <a:r>
              <a:rPr sz="2400" spc="5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severe.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This</a:t>
            </a:r>
            <a:r>
              <a:rPr sz="2400" spc="50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project</a:t>
            </a:r>
            <a:r>
              <a:rPr sz="2400" spc="50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presents</a:t>
            </a:r>
            <a:r>
              <a:rPr sz="2400" spc="48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Proactive</a:t>
            </a:r>
            <a:r>
              <a:rPr sz="2400" b="1" spc="48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Stress</a:t>
            </a:r>
            <a:r>
              <a:rPr sz="2400" b="1" spc="484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Management</a:t>
            </a:r>
            <a:r>
              <a:rPr sz="2400" b="1" spc="48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Framework </a:t>
            </a:r>
            <a:r>
              <a:rPr sz="2400" b="1" dirty="0">
                <a:latin typeface="Georgia"/>
                <a:cs typeface="Georgia"/>
              </a:rPr>
              <a:t>using</a:t>
            </a:r>
            <a:r>
              <a:rPr sz="2400" b="1" spc="1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Behavioral</a:t>
            </a:r>
            <a:r>
              <a:rPr sz="2400" b="1" spc="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and</a:t>
            </a:r>
            <a:r>
              <a:rPr sz="2400" b="1" spc="2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Lifestyle</a:t>
            </a:r>
            <a:r>
              <a:rPr sz="2400" b="1" spc="1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Analytics</a:t>
            </a:r>
            <a:r>
              <a:rPr sz="2400" b="1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that</a:t>
            </a:r>
            <a:r>
              <a:rPr sz="2400" spc="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aims</a:t>
            </a:r>
            <a:r>
              <a:rPr sz="2400" spc="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detect</a:t>
            </a:r>
            <a:r>
              <a:rPr sz="2400" spc="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early</a:t>
            </a:r>
            <a:r>
              <a:rPr sz="2400" spc="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indicators</a:t>
            </a:r>
            <a:r>
              <a:rPr sz="2400" spc="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support </a:t>
            </a:r>
            <a:r>
              <a:rPr sz="2400" dirty="0">
                <a:latin typeface="Georgia"/>
                <a:cs typeface="Georgia"/>
              </a:rPr>
              <a:t>preventive</a:t>
            </a:r>
            <a:r>
              <a:rPr sz="2400" spc="2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intervention.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2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proposed</a:t>
            </a:r>
            <a:r>
              <a:rPr sz="2400" spc="25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framework</a:t>
            </a:r>
            <a:r>
              <a:rPr sz="2400" spc="2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collects</a:t>
            </a:r>
            <a:r>
              <a:rPr sz="2400" spc="2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2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analyzes</a:t>
            </a:r>
            <a:r>
              <a:rPr sz="2400" spc="2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behavioral</a:t>
            </a:r>
            <a:r>
              <a:rPr sz="2400" spc="2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</a:t>
            </a:r>
            <a:r>
              <a:rPr sz="2400" spc="2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such</a:t>
            </a:r>
            <a:r>
              <a:rPr sz="2400" spc="2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24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sleep </a:t>
            </a:r>
            <a:r>
              <a:rPr sz="2400" dirty="0">
                <a:latin typeface="Georgia"/>
                <a:cs typeface="Georgia"/>
              </a:rPr>
              <a:t>patterns,</a:t>
            </a:r>
            <a:r>
              <a:rPr sz="2400" spc="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physical</a:t>
            </a:r>
            <a:r>
              <a:rPr sz="2400" spc="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activity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levels,</a:t>
            </a:r>
            <a:r>
              <a:rPr sz="2400" spc="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screen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usage,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work</a:t>
            </a:r>
            <a:r>
              <a:rPr sz="2400" spc="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routines,</a:t>
            </a:r>
            <a:r>
              <a:rPr sz="2400" spc="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70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self-</a:t>
            </a:r>
            <a:r>
              <a:rPr sz="2400" dirty="0">
                <a:latin typeface="Georgia"/>
                <a:cs typeface="Georgia"/>
              </a:rPr>
              <a:t>reported</a:t>
            </a:r>
            <a:r>
              <a:rPr sz="2400" spc="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emotional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states,</a:t>
            </a:r>
            <a:r>
              <a:rPr sz="2400" spc="6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along </a:t>
            </a:r>
            <a:r>
              <a:rPr sz="2400" dirty="0">
                <a:latin typeface="Georgia"/>
                <a:cs typeface="Georgia"/>
              </a:rPr>
              <a:t>with</a:t>
            </a:r>
            <a:r>
              <a:rPr sz="2400" spc="5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lifestyle</a:t>
            </a:r>
            <a:r>
              <a:rPr sz="2400" spc="5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factors</a:t>
            </a:r>
            <a:r>
              <a:rPr sz="2400" spc="5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including</a:t>
            </a:r>
            <a:r>
              <a:rPr sz="2400" spc="5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dietary</a:t>
            </a:r>
            <a:r>
              <a:rPr sz="2400" spc="5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habits</a:t>
            </a:r>
            <a:r>
              <a:rPr sz="2400" spc="5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5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social</a:t>
            </a:r>
            <a:r>
              <a:rPr sz="2400" spc="5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engagement.</a:t>
            </a:r>
            <a:r>
              <a:rPr sz="2400" spc="5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Advanced</a:t>
            </a:r>
            <a:r>
              <a:rPr sz="2400" spc="5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</a:t>
            </a:r>
            <a:r>
              <a:rPr sz="2400" spc="5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analytics</a:t>
            </a:r>
            <a:r>
              <a:rPr sz="2400" spc="53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and </a:t>
            </a:r>
            <a:r>
              <a:rPr sz="2400" dirty="0">
                <a:latin typeface="Georgia"/>
                <a:cs typeface="Georgia"/>
              </a:rPr>
              <a:t>machine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learning</a:t>
            </a:r>
            <a:r>
              <a:rPr sz="2400" spc="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techniques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employed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identify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patterns,</a:t>
            </a:r>
            <a:r>
              <a:rPr sz="2400" spc="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classify</a:t>
            </a:r>
            <a:r>
              <a:rPr sz="2400" spc="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levels,</a:t>
            </a:r>
            <a:r>
              <a:rPr sz="2400" spc="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predict </a:t>
            </a:r>
            <a:r>
              <a:rPr sz="2400" dirty="0">
                <a:latin typeface="Georgia"/>
                <a:cs typeface="Georgia"/>
              </a:rPr>
              <a:t>future</a:t>
            </a:r>
            <a:r>
              <a:rPr sz="2400" spc="5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5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risks.</a:t>
            </a:r>
            <a:r>
              <a:rPr sz="2400" spc="5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Based</a:t>
            </a:r>
            <a:r>
              <a:rPr sz="2400" spc="5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on</a:t>
            </a:r>
            <a:r>
              <a:rPr sz="2400" spc="5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5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analytical</a:t>
            </a:r>
            <a:r>
              <a:rPr sz="2400" spc="5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outcomes,</a:t>
            </a:r>
            <a:r>
              <a:rPr sz="2400" spc="5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5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system</a:t>
            </a:r>
            <a:r>
              <a:rPr sz="2400" spc="5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provides</a:t>
            </a:r>
            <a:r>
              <a:rPr sz="2400" spc="540" dirty="0">
                <a:latin typeface="Georgia"/>
                <a:cs typeface="Georgia"/>
              </a:rPr>
              <a:t>  </a:t>
            </a:r>
            <a:r>
              <a:rPr sz="2400" spc="-10" dirty="0">
                <a:latin typeface="Georgia"/>
                <a:cs typeface="Georgia"/>
              </a:rPr>
              <a:t>personalized </a:t>
            </a:r>
            <a:r>
              <a:rPr sz="2400" dirty="0">
                <a:latin typeface="Georgia"/>
                <a:cs typeface="Georgia"/>
              </a:rPr>
              <a:t>recommendations,</a:t>
            </a:r>
            <a:r>
              <a:rPr sz="2400" spc="1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alerts,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1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coping</a:t>
            </a:r>
            <a:r>
              <a:rPr sz="2400" spc="1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strategies</a:t>
            </a:r>
            <a:r>
              <a:rPr sz="2400" spc="1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1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encourage</a:t>
            </a:r>
            <a:r>
              <a:rPr sz="2400" spc="1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healthier</a:t>
            </a:r>
            <a:r>
              <a:rPr sz="2400" spc="14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lifestyle</a:t>
            </a:r>
            <a:r>
              <a:rPr sz="2400" spc="1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adjustments.</a:t>
            </a:r>
            <a:r>
              <a:rPr sz="2400" spc="145" dirty="0">
                <a:latin typeface="Georgia"/>
                <a:cs typeface="Georgia"/>
              </a:rPr>
              <a:t>  </a:t>
            </a:r>
            <a:r>
              <a:rPr sz="2400" spc="-25" dirty="0">
                <a:latin typeface="Georgia"/>
                <a:cs typeface="Georgia"/>
              </a:rPr>
              <a:t>By </a:t>
            </a:r>
            <a:r>
              <a:rPr sz="2400" dirty="0">
                <a:latin typeface="Georgia"/>
                <a:cs typeface="Georgia"/>
              </a:rPr>
              <a:t>promoting</a:t>
            </a:r>
            <a:r>
              <a:rPr sz="2400" spc="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early</a:t>
            </a:r>
            <a:r>
              <a:rPr sz="2400" spc="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detection</a:t>
            </a:r>
            <a:r>
              <a:rPr sz="2400" spc="5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continuous</a:t>
            </a:r>
            <a:r>
              <a:rPr sz="2400" spc="4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monitoring,</a:t>
            </a:r>
            <a:r>
              <a:rPr sz="2400" spc="5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5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proposed</a:t>
            </a:r>
            <a:r>
              <a:rPr sz="2400" spc="6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framework</a:t>
            </a:r>
            <a:r>
              <a:rPr sz="2400" spc="5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helps</a:t>
            </a:r>
            <a:r>
              <a:rPr sz="2400" spc="50" dirty="0">
                <a:latin typeface="Georgia"/>
                <a:cs typeface="Georgia"/>
              </a:rPr>
              <a:t>  </a:t>
            </a:r>
            <a:r>
              <a:rPr sz="2400" spc="-10" dirty="0">
                <a:latin typeface="Georgia"/>
                <a:cs typeface="Georgia"/>
              </a:rPr>
              <a:t>individuals </a:t>
            </a:r>
            <a:r>
              <a:rPr sz="2400" dirty="0">
                <a:latin typeface="Georgia"/>
                <a:cs typeface="Georgia"/>
              </a:rPr>
              <a:t>manage</a:t>
            </a:r>
            <a:r>
              <a:rPr sz="2400" spc="5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proactively,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improve</a:t>
            </a:r>
            <a:r>
              <a:rPr sz="2400" spc="5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overall</a:t>
            </a:r>
            <a:r>
              <a:rPr sz="2400" spc="484" dirty="0">
                <a:latin typeface="Georgia"/>
                <a:cs typeface="Georgia"/>
              </a:rPr>
              <a:t> </a:t>
            </a:r>
            <a:r>
              <a:rPr sz="2400" spc="-55" dirty="0">
                <a:latin typeface="Georgia"/>
                <a:cs typeface="Georgia"/>
              </a:rPr>
              <a:t>well-</a:t>
            </a:r>
            <a:r>
              <a:rPr sz="2400" dirty="0">
                <a:latin typeface="Georgia"/>
                <a:cs typeface="Georgia"/>
              </a:rPr>
              <a:t>being,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reduce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long-</a:t>
            </a:r>
            <a:r>
              <a:rPr sz="2400" dirty="0">
                <a:latin typeface="Georgia"/>
                <a:cs typeface="Georgia"/>
              </a:rPr>
              <a:t>term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impact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484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chronic stress.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6307" y="1137666"/>
            <a:ext cx="48183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" dirty="0">
                <a:latin typeface="Georgia"/>
                <a:cs typeface="Georgia"/>
              </a:rPr>
              <a:t>INTRODUCTION</a:t>
            </a:r>
            <a:endParaRPr sz="48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28038" y="2548254"/>
            <a:ext cx="14256385" cy="701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9525" indent="1688464" algn="just">
              <a:lnSpc>
                <a:spcPct val="125000"/>
              </a:lnSpc>
              <a:spcBef>
                <a:spcPts val="100"/>
              </a:spcBef>
            </a:pP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become</a:t>
            </a:r>
            <a:r>
              <a:rPr sz="2400" spc="3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3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significant</a:t>
            </a:r>
            <a:r>
              <a:rPr sz="2400" spc="3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challenge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3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modern</a:t>
            </a:r>
            <a:r>
              <a:rPr sz="2400" spc="3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</a:t>
            </a:r>
            <a:r>
              <a:rPr sz="2400" spc="3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due</a:t>
            </a:r>
            <a:r>
              <a:rPr sz="2400" spc="3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305" dirty="0">
                <a:latin typeface="Georgia"/>
                <a:cs typeface="Georgia"/>
              </a:rPr>
              <a:t> </a:t>
            </a:r>
            <a:r>
              <a:rPr sz="2400" spc="-50" dirty="0">
                <a:latin typeface="Georgia"/>
                <a:cs typeface="Georgia"/>
              </a:rPr>
              <a:t>fast-</a:t>
            </a:r>
            <a:r>
              <a:rPr sz="2400" dirty="0">
                <a:latin typeface="Georgia"/>
                <a:cs typeface="Georgia"/>
              </a:rPr>
              <a:t>paced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lifestyles,</a:t>
            </a:r>
            <a:r>
              <a:rPr sz="2400" spc="31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work </a:t>
            </a:r>
            <a:r>
              <a:rPr sz="2400" dirty="0">
                <a:latin typeface="Georgia"/>
                <a:cs typeface="Georgia"/>
              </a:rPr>
              <a:t>pressure,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increased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4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digital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technology.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Prolonged</a:t>
            </a:r>
            <a:r>
              <a:rPr sz="2400" spc="50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can</a:t>
            </a:r>
            <a:r>
              <a:rPr sz="2400" spc="4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negatively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affect</a:t>
            </a:r>
            <a:r>
              <a:rPr sz="2400" spc="5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mental</a:t>
            </a:r>
            <a:r>
              <a:rPr sz="2400" spc="50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and </a:t>
            </a:r>
            <a:r>
              <a:rPr sz="2400" dirty="0">
                <a:latin typeface="Georgia"/>
                <a:cs typeface="Georgia"/>
              </a:rPr>
              <a:t>physical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health,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leading</a:t>
            </a:r>
            <a:r>
              <a:rPr sz="2400" spc="2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reduced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productivity</a:t>
            </a:r>
            <a:r>
              <a:rPr sz="2400" spc="20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serious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health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issues</a:t>
            </a:r>
            <a:r>
              <a:rPr sz="2400" spc="2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if</a:t>
            </a:r>
            <a:r>
              <a:rPr sz="2400" spc="2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left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unmanaged.</a:t>
            </a:r>
            <a:r>
              <a:rPr sz="2400" spc="21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Therefore, </a:t>
            </a:r>
            <a:r>
              <a:rPr sz="2400" spc="-25" dirty="0">
                <a:latin typeface="Georgia"/>
                <a:cs typeface="Georgia"/>
              </a:rPr>
              <a:t>effective</a:t>
            </a:r>
            <a:r>
              <a:rPr sz="2400" spc="-17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stress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management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has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become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important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requirement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1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today’s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society.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400">
              <a:latin typeface="Georgia"/>
              <a:cs typeface="Georgia"/>
            </a:endParaRPr>
          </a:p>
          <a:p>
            <a:pPr marL="12700" marR="6350" indent="1688464" algn="just">
              <a:lnSpc>
                <a:spcPct val="125000"/>
              </a:lnSpc>
              <a:spcBef>
                <a:spcPts val="5"/>
              </a:spcBef>
            </a:pPr>
            <a:r>
              <a:rPr sz="2400" dirty="0">
                <a:latin typeface="Georgia"/>
                <a:cs typeface="Georgia"/>
              </a:rPr>
              <a:t>Most</a:t>
            </a:r>
            <a:r>
              <a:rPr sz="2400" spc="20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existing</a:t>
            </a:r>
            <a:r>
              <a:rPr sz="2400" spc="20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20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management</a:t>
            </a:r>
            <a:r>
              <a:rPr sz="2400" spc="21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methods</a:t>
            </a:r>
            <a:r>
              <a:rPr sz="2400" spc="20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21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reactive,</a:t>
            </a:r>
            <a:r>
              <a:rPr sz="2400" spc="20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addressing</a:t>
            </a:r>
            <a:r>
              <a:rPr sz="2400" spc="21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20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only</a:t>
            </a:r>
            <a:r>
              <a:rPr sz="2400" spc="204" dirty="0">
                <a:latin typeface="Georgia"/>
                <a:cs typeface="Georgia"/>
              </a:rPr>
              <a:t>  </a:t>
            </a:r>
            <a:r>
              <a:rPr sz="2400" spc="-20" dirty="0">
                <a:latin typeface="Georgia"/>
                <a:cs typeface="Georgia"/>
              </a:rPr>
              <a:t>after </a:t>
            </a:r>
            <a:r>
              <a:rPr sz="2400" dirty="0">
                <a:latin typeface="Georgia"/>
                <a:cs typeface="Georgia"/>
              </a:rPr>
              <a:t>symptoms</a:t>
            </a:r>
            <a:r>
              <a:rPr sz="2400" spc="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become</a:t>
            </a:r>
            <a:r>
              <a:rPr sz="2400" spc="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severe.</a:t>
            </a:r>
            <a:r>
              <a:rPr sz="2400" spc="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This</a:t>
            </a:r>
            <a:r>
              <a:rPr sz="2400" spc="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project</a:t>
            </a:r>
            <a:r>
              <a:rPr sz="2400" spc="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proposes</a:t>
            </a:r>
            <a:r>
              <a:rPr sz="2400" spc="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3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Proactive</a:t>
            </a:r>
            <a:r>
              <a:rPr sz="2400" spc="2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Management</a:t>
            </a:r>
            <a:r>
              <a:rPr sz="2400" spc="2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Framework</a:t>
            </a:r>
            <a:r>
              <a:rPr sz="2400" spc="40" dirty="0">
                <a:latin typeface="Georgia"/>
                <a:cs typeface="Georgia"/>
              </a:rPr>
              <a:t>  </a:t>
            </a:r>
            <a:r>
              <a:rPr sz="2400" spc="-20" dirty="0">
                <a:latin typeface="Georgia"/>
                <a:cs typeface="Georgia"/>
              </a:rPr>
              <a:t>using </a:t>
            </a:r>
            <a:r>
              <a:rPr sz="2400" dirty="0">
                <a:latin typeface="Georgia"/>
                <a:cs typeface="Georgia"/>
              </a:rPr>
              <a:t>Behavioral</a:t>
            </a:r>
            <a:r>
              <a:rPr sz="2400" spc="4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4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Lifestyle</a:t>
            </a:r>
            <a:r>
              <a:rPr sz="2400" spc="4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Analytics</a:t>
            </a:r>
            <a:r>
              <a:rPr sz="2400" spc="45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45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identify</a:t>
            </a:r>
            <a:r>
              <a:rPr sz="2400" spc="45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early</a:t>
            </a:r>
            <a:r>
              <a:rPr sz="2400" spc="4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signs</a:t>
            </a:r>
            <a:r>
              <a:rPr sz="2400" spc="4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45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4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45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enable</a:t>
            </a:r>
            <a:r>
              <a:rPr sz="2400" spc="47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preventive</a:t>
            </a:r>
            <a:r>
              <a:rPr sz="2400" spc="4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action.</a:t>
            </a:r>
            <a:r>
              <a:rPr sz="2400" spc="450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The </a:t>
            </a:r>
            <a:r>
              <a:rPr sz="2400" dirty="0">
                <a:latin typeface="Georgia"/>
                <a:cs typeface="Georgia"/>
              </a:rPr>
              <a:t>framework</a:t>
            </a:r>
            <a:r>
              <a:rPr sz="2400" spc="11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analyzes</a:t>
            </a:r>
            <a:r>
              <a:rPr sz="2400" spc="12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behavioral</a:t>
            </a:r>
            <a:r>
              <a:rPr sz="2400" spc="13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factors</a:t>
            </a:r>
            <a:r>
              <a:rPr sz="2400" spc="11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such</a:t>
            </a:r>
            <a:r>
              <a:rPr sz="2400" spc="11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as</a:t>
            </a:r>
            <a:r>
              <a:rPr sz="2400" spc="12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sleep</a:t>
            </a:r>
            <a:r>
              <a:rPr sz="2400" spc="120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patterns,</a:t>
            </a:r>
            <a:r>
              <a:rPr sz="2400" spc="11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physical</a:t>
            </a:r>
            <a:r>
              <a:rPr sz="2400" spc="125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activity,</a:t>
            </a:r>
            <a:r>
              <a:rPr sz="2400" spc="11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screen</a:t>
            </a:r>
            <a:r>
              <a:rPr sz="2400" spc="114" dirty="0">
                <a:latin typeface="Georgia"/>
                <a:cs typeface="Georgia"/>
              </a:rPr>
              <a:t>  </a:t>
            </a:r>
            <a:r>
              <a:rPr sz="2400" dirty="0">
                <a:latin typeface="Georgia"/>
                <a:cs typeface="Georgia"/>
              </a:rPr>
              <a:t>time,</a:t>
            </a:r>
            <a:r>
              <a:rPr sz="2400" spc="110" dirty="0">
                <a:latin typeface="Georgia"/>
                <a:cs typeface="Georgia"/>
              </a:rPr>
              <a:t>  </a:t>
            </a:r>
            <a:r>
              <a:rPr sz="2400" spc="-25" dirty="0">
                <a:latin typeface="Georgia"/>
                <a:cs typeface="Georgia"/>
              </a:rPr>
              <a:t>and </a:t>
            </a:r>
            <a:r>
              <a:rPr sz="2400" spc="-10" dirty="0">
                <a:latin typeface="Georgia"/>
                <a:cs typeface="Georgia"/>
              </a:rPr>
              <a:t>emotional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states,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along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with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lifestyle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habits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like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diet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social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interaction.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2400">
              <a:latin typeface="Georgia"/>
              <a:cs typeface="Georgia"/>
            </a:endParaRPr>
          </a:p>
          <a:p>
            <a:pPr marL="12700" marR="5080" indent="1688464" algn="just">
              <a:lnSpc>
                <a:spcPct val="125000"/>
              </a:lnSpc>
            </a:pPr>
            <a:r>
              <a:rPr sz="2400" dirty="0">
                <a:latin typeface="Georgia"/>
                <a:cs typeface="Georgia"/>
              </a:rPr>
              <a:t>Using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 analytics and machine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learning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techniques,</a:t>
            </a:r>
            <a:r>
              <a:rPr sz="2400" spc="-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</a:t>
            </a:r>
            <a:r>
              <a:rPr sz="2400" spc="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detects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 patterns</a:t>
            </a:r>
            <a:r>
              <a:rPr sz="2400" spc="1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and </a:t>
            </a:r>
            <a:r>
              <a:rPr sz="2400" dirty="0">
                <a:latin typeface="Georgia"/>
                <a:cs typeface="Georgia"/>
              </a:rPr>
              <a:t>predicts</a:t>
            </a:r>
            <a:r>
              <a:rPr sz="2400" spc="5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potential</a:t>
            </a:r>
            <a:r>
              <a:rPr sz="2400" spc="5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5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risks.</a:t>
            </a:r>
            <a:r>
              <a:rPr sz="2400" spc="5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Based</a:t>
            </a:r>
            <a:r>
              <a:rPr sz="2400" spc="5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</a:t>
            </a:r>
            <a:r>
              <a:rPr sz="2400" spc="5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the</a:t>
            </a:r>
            <a:r>
              <a:rPr sz="2400" spc="5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analysis,</a:t>
            </a:r>
            <a:r>
              <a:rPr sz="2400" spc="5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personalized</a:t>
            </a:r>
            <a:r>
              <a:rPr sz="2400" spc="5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recommendations</a:t>
            </a:r>
            <a:r>
              <a:rPr sz="2400" spc="5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5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alerts</a:t>
            </a:r>
            <a:r>
              <a:rPr sz="2400" spc="57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are </a:t>
            </a:r>
            <a:r>
              <a:rPr sz="2400" dirty="0">
                <a:latin typeface="Georgia"/>
                <a:cs typeface="Georgia"/>
              </a:rPr>
              <a:t>provided</a:t>
            </a:r>
            <a:r>
              <a:rPr sz="2400" spc="2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help</a:t>
            </a:r>
            <a:r>
              <a:rPr sz="2400" spc="2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users</a:t>
            </a:r>
            <a:r>
              <a:rPr sz="2400" spc="2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adopt</a:t>
            </a:r>
            <a:r>
              <a:rPr sz="2400" spc="2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healthier</a:t>
            </a:r>
            <a:r>
              <a:rPr sz="2400" spc="2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lifestyle</a:t>
            </a:r>
            <a:r>
              <a:rPr sz="2400" spc="2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practices.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This</a:t>
            </a:r>
            <a:r>
              <a:rPr sz="2400" spc="2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proactive</a:t>
            </a:r>
            <a:r>
              <a:rPr sz="2400" spc="2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approach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supports</a:t>
            </a:r>
            <a:r>
              <a:rPr sz="2400" spc="229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continuous stress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monitoring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and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helps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improve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overall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70" dirty="0">
                <a:latin typeface="Georgia"/>
                <a:cs typeface="Georgia"/>
              </a:rPr>
              <a:t>well-</a:t>
            </a:r>
            <a:r>
              <a:rPr sz="2400" dirty="0">
                <a:latin typeface="Georgia"/>
                <a:cs typeface="Georgia"/>
              </a:rPr>
              <a:t>being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while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reducing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spc="-65" dirty="0">
                <a:latin typeface="Georgia"/>
                <a:cs typeface="Georgia"/>
              </a:rPr>
              <a:t>long-</a:t>
            </a:r>
            <a:r>
              <a:rPr sz="2400" dirty="0">
                <a:latin typeface="Georgia"/>
                <a:cs typeface="Georgia"/>
              </a:rPr>
              <a:t>term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health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risks.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63821" y="829818"/>
            <a:ext cx="63512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85" dirty="0">
                <a:latin typeface="Georgia"/>
                <a:cs typeface="Georgia"/>
              </a:rPr>
              <a:t>LITERATURE</a:t>
            </a:r>
            <a:r>
              <a:rPr sz="4800" b="0" spc="-225" dirty="0">
                <a:latin typeface="Georgia"/>
                <a:cs typeface="Georgia"/>
              </a:rPr>
              <a:t> </a:t>
            </a:r>
            <a:r>
              <a:rPr sz="4800" b="0" spc="-10" dirty="0">
                <a:latin typeface="Georgia"/>
                <a:cs typeface="Georgia"/>
              </a:rPr>
              <a:t>SURVEY</a:t>
            </a:r>
            <a:endParaRPr sz="4800">
              <a:latin typeface="Georgia"/>
              <a:cs typeface="Georg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773808" y="1946910"/>
          <a:ext cx="14927580" cy="7532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89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5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Georgia"/>
                          <a:cs typeface="Georgia"/>
                        </a:rPr>
                        <a:t>S.</a:t>
                      </a:r>
                      <a:endParaRPr sz="2400">
                        <a:latin typeface="Georgia"/>
                        <a:cs typeface="Georg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25" dirty="0">
                          <a:latin typeface="Georgia"/>
                          <a:cs typeface="Georgia"/>
                        </a:rPr>
                        <a:t>No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Georgia"/>
                          <a:cs typeface="Georgia"/>
                        </a:rPr>
                        <a:t>Title/Topic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Georgia"/>
                          <a:cs typeface="Georgia"/>
                        </a:rPr>
                        <a:t>Author/Source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spc="-10" dirty="0">
                          <a:latin typeface="Georgia"/>
                          <a:cs typeface="Georgia"/>
                        </a:rPr>
                        <a:t>Key</a:t>
                      </a:r>
                      <a:r>
                        <a:rPr sz="2400" spc="-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400" spc="-10" dirty="0">
                          <a:latin typeface="Georgia"/>
                          <a:cs typeface="Georgia"/>
                        </a:rPr>
                        <a:t>Findings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2400" spc="-20" dirty="0">
                          <a:latin typeface="Georgia"/>
                          <a:cs typeface="Georgia"/>
                        </a:rPr>
                        <a:t>Reference</a:t>
                      </a:r>
                      <a:r>
                        <a:rPr sz="24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400" spc="-10" dirty="0">
                          <a:latin typeface="Georgia"/>
                          <a:cs typeface="Georgia"/>
                        </a:rPr>
                        <a:t>Links</a:t>
                      </a:r>
                      <a:endParaRPr sz="2400">
                        <a:latin typeface="Georgia"/>
                        <a:cs typeface="Georgia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Georgia"/>
                          <a:cs typeface="Georgia"/>
                        </a:rPr>
                        <a:t>1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384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Detecting</a:t>
                      </a:r>
                      <a:r>
                        <a:rPr sz="20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During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50" dirty="0">
                          <a:latin typeface="Georgia"/>
                          <a:cs typeface="Georgia"/>
                        </a:rPr>
                        <a:t>Real-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World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Driving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Tasks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4108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Rosalind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W.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30" dirty="0">
                          <a:latin typeface="Georgia"/>
                          <a:cs typeface="Georgia"/>
                        </a:rPr>
                        <a:t>Picard,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Shaun</a:t>
                      </a:r>
                      <a:r>
                        <a:rPr sz="2000" spc="-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Healey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965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spc="-20" dirty="0">
                          <a:latin typeface="Georgia"/>
                          <a:cs typeface="Georgia"/>
                        </a:rPr>
                        <a:t>Demonstrated</a:t>
                      </a:r>
                      <a:r>
                        <a:rPr sz="2000" spc="-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that</a:t>
                      </a:r>
                      <a:r>
                        <a:rPr sz="20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can</a:t>
                      </a:r>
                      <a:r>
                        <a:rPr sz="20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5" dirty="0">
                          <a:latin typeface="Georgia"/>
                          <a:cs typeface="Georgia"/>
                        </a:rPr>
                        <a:t>be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detected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20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physiological</a:t>
                      </a:r>
                      <a:r>
                        <a:rPr sz="2000" spc="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5" dirty="0">
                          <a:latin typeface="Georgia"/>
                          <a:cs typeface="Georgia"/>
                        </a:rPr>
                        <a:t>and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behavioral</a:t>
                      </a:r>
                      <a:r>
                        <a:rPr sz="20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indicators</a:t>
                      </a:r>
                      <a:r>
                        <a:rPr sz="2000" spc="-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with</a:t>
                      </a:r>
                      <a:r>
                        <a:rPr sz="20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machine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learning</a:t>
                      </a:r>
                      <a:r>
                        <a:rPr sz="2000" spc="-11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techniques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https://affect.media.mit.edu/pdfs/05.heal</a:t>
                      </a:r>
                      <a:endParaRPr sz="2000">
                        <a:latin typeface="Georgia"/>
                        <a:cs typeface="Georgia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</a:pPr>
                      <a:r>
                        <a:rPr sz="2000" spc="-40" dirty="0">
                          <a:latin typeface="Georgia"/>
                          <a:cs typeface="Georgia"/>
                        </a:rPr>
                        <a:t>ey-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driving.pdf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spc="-50" dirty="0">
                          <a:latin typeface="Georgia"/>
                          <a:cs typeface="Georgia"/>
                        </a:rPr>
                        <a:t>2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968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Stress</a:t>
                      </a:r>
                      <a:r>
                        <a:rPr sz="2000" spc="-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Recognition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2000" spc="-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Wearable Sensors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Akane</a:t>
                      </a:r>
                      <a:r>
                        <a:rPr sz="20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Sano,</a:t>
                      </a:r>
                      <a:r>
                        <a:rPr sz="2000" spc="-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Rosalind</a:t>
                      </a:r>
                      <a:endParaRPr sz="2000">
                        <a:latin typeface="Georgia"/>
                        <a:cs typeface="Georg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W.</a:t>
                      </a:r>
                      <a:r>
                        <a:rPr sz="2000" spc="-1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Picard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568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Identified</a:t>
                      </a:r>
                      <a:r>
                        <a:rPr sz="20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strong</a:t>
                      </a:r>
                      <a:r>
                        <a:rPr sz="20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relationships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between</a:t>
                      </a:r>
                      <a:r>
                        <a:rPr sz="2000" spc="-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sleep</a:t>
                      </a:r>
                      <a:r>
                        <a:rPr sz="2000" spc="-12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quality,</a:t>
                      </a:r>
                      <a:r>
                        <a:rPr sz="20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daily</a:t>
                      </a:r>
                      <a:r>
                        <a:rPr sz="20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habits,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levels</a:t>
                      </a:r>
                      <a:r>
                        <a:rPr sz="2000" spc="-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2000" spc="-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wearable</a:t>
                      </a:r>
                      <a:r>
                        <a:rPr sz="20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data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32194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000" spc="-30" dirty="0">
                          <a:latin typeface="Georgia"/>
                          <a:cs typeface="Georgia"/>
                        </a:rPr>
                        <a:t>https://affect.media.mit.edu/pdfs/13.san </a:t>
                      </a:r>
                      <a:r>
                        <a:rPr sz="2000" spc="-55" dirty="0">
                          <a:latin typeface="Georgia"/>
                          <a:cs typeface="Georgia"/>
                        </a:rPr>
                        <a:t>o-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stress.pdf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7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Georgia"/>
                          <a:cs typeface="Georgia"/>
                        </a:rPr>
                        <a:t>3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203835" algn="just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Continuous</a:t>
                      </a:r>
                      <a:r>
                        <a:rPr sz="2000" spc="1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Detection</a:t>
                      </a:r>
                      <a:r>
                        <a:rPr sz="2000" spc="2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2000" spc="24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50" dirty="0">
                          <a:latin typeface="Georgia"/>
                          <a:cs typeface="Georgia"/>
                        </a:rPr>
                        <a:t>a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Wrist</a:t>
                      </a:r>
                      <a:r>
                        <a:rPr sz="2000" spc="-8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Device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384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Hristijan</a:t>
                      </a:r>
                      <a:r>
                        <a:rPr sz="2000" spc="-1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Gjoreski</a:t>
                      </a:r>
                      <a:r>
                        <a:rPr sz="20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5" dirty="0">
                          <a:latin typeface="Georgia"/>
                          <a:cs typeface="Georgia"/>
                        </a:rPr>
                        <a:t>et al.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3702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Achieved</a:t>
                      </a:r>
                      <a:r>
                        <a:rPr sz="2000" spc="-7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continuous</a:t>
                      </a:r>
                      <a:r>
                        <a:rPr sz="20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stress monitoring</a:t>
                      </a:r>
                      <a:r>
                        <a:rPr sz="2000" spc="-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using</a:t>
                      </a:r>
                      <a:r>
                        <a:rPr sz="2000" spc="-7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wearable</a:t>
                      </a:r>
                      <a:r>
                        <a:rPr sz="2000" spc="-5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devices and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machine</a:t>
                      </a:r>
                      <a:r>
                        <a:rPr sz="2000" spc="-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learning</a:t>
                      </a:r>
                      <a:r>
                        <a:rPr sz="2000" spc="-10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models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14224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https://ieeexplore.ieee.org/document/747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2708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8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40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spc="-50" dirty="0">
                          <a:latin typeface="Georgia"/>
                          <a:cs typeface="Georgia"/>
                        </a:rPr>
                        <a:t>4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1701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91440" marR="267970">
                        <a:lnSpc>
                          <a:spcPct val="100000"/>
                        </a:lnSpc>
                      </a:pPr>
                      <a:r>
                        <a:rPr sz="2000" spc="-10" dirty="0">
                          <a:latin typeface="Georgia"/>
                          <a:cs typeface="Georgia"/>
                        </a:rPr>
                        <a:t>Predicting</a:t>
                      </a:r>
                      <a:r>
                        <a:rPr sz="20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Mental Stress</a:t>
                      </a:r>
                      <a:r>
                        <a:rPr sz="2000" spc="-10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Using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Behavioral</a:t>
                      </a:r>
                      <a:r>
                        <a:rPr sz="20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Data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450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Zhang</a:t>
                      </a:r>
                      <a:r>
                        <a:rPr sz="2000" spc="-6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et</a:t>
                      </a:r>
                      <a:r>
                        <a:rPr sz="2000" spc="-8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5" dirty="0">
                          <a:latin typeface="Georgia"/>
                          <a:cs typeface="Georgia"/>
                        </a:rPr>
                        <a:t>al.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29083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dirty="0">
                          <a:latin typeface="Georgia"/>
                          <a:cs typeface="Georgia"/>
                        </a:rPr>
                        <a:t>Proved</a:t>
                      </a:r>
                      <a:r>
                        <a:rPr sz="2000" spc="-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that</a:t>
                      </a:r>
                      <a:r>
                        <a:rPr sz="2000" spc="-12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behavioral</a:t>
                      </a:r>
                      <a:r>
                        <a:rPr sz="2000" spc="-5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lifestyle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data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such</a:t>
                      </a:r>
                      <a:r>
                        <a:rPr sz="2000" spc="-9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as</a:t>
                      </a:r>
                      <a:r>
                        <a:rPr sz="20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screen</a:t>
                      </a:r>
                      <a:r>
                        <a:rPr sz="2000" spc="-4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time</a:t>
                      </a:r>
                      <a:r>
                        <a:rPr sz="2000" spc="-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and</a:t>
                      </a:r>
                      <a:r>
                        <a:rPr sz="2000" spc="-3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20" dirty="0">
                          <a:latin typeface="Georgia"/>
                          <a:cs typeface="Georgia"/>
                        </a:rPr>
                        <a:t>work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patterns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can</a:t>
                      </a:r>
                      <a:r>
                        <a:rPr sz="2000" spc="-6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predict</a:t>
                      </a:r>
                      <a:r>
                        <a:rPr sz="2000" spc="-95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dirty="0">
                          <a:latin typeface="Georgia"/>
                          <a:cs typeface="Georgia"/>
                        </a:rPr>
                        <a:t>stress</a:t>
                      </a:r>
                      <a:r>
                        <a:rPr sz="2000" spc="-114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early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980" marR="24828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000" spc="-30" dirty="0">
                          <a:latin typeface="Georgia"/>
                          <a:cs typeface="Georgia"/>
                        </a:rPr>
                        <a:t>https://</a:t>
                      </a:r>
                      <a:r>
                        <a:rPr sz="2000" u="sng" spc="-30" dirty="0">
                          <a:uFill>
                            <a:solidFill>
                              <a:srgbClr val="000000"/>
                            </a:solidFill>
                          </a:uFill>
                          <a:latin typeface="Georgia"/>
                          <a:cs typeface="Georgia"/>
                          <a:hlinkClick r:id="rId2"/>
                        </a:rPr>
                        <a:t>www.sciencedirect.com/science/a</a:t>
                      </a:r>
                      <a:r>
                        <a:rPr sz="2000" spc="-30" dirty="0">
                          <a:latin typeface="Georgia"/>
                          <a:cs typeface="Georgia"/>
                        </a:rPr>
                        <a:t> </a:t>
                      </a:r>
                      <a:r>
                        <a:rPr sz="2000" spc="-10" dirty="0">
                          <a:latin typeface="Georgia"/>
                          <a:cs typeface="Georgia"/>
                        </a:rPr>
                        <a:t>rticle/pii/S01650327</a:t>
                      </a:r>
                      <a:endParaRPr sz="2000">
                        <a:latin typeface="Georgia"/>
                        <a:cs typeface="Georgia"/>
                      </a:endParaRPr>
                    </a:p>
                  </a:txBody>
                  <a:tcPr marL="0" marR="0" marT="25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52856" rIns="0" bIns="0" rtlCol="0">
            <a:spAutoFit/>
          </a:bodyPr>
          <a:lstStyle/>
          <a:p>
            <a:pPr marL="3590925">
              <a:lnSpc>
                <a:spcPct val="100000"/>
              </a:lnSpc>
              <a:spcBef>
                <a:spcPts val="100"/>
              </a:spcBef>
            </a:pPr>
            <a:r>
              <a:rPr sz="4800" b="0" spc="-50" dirty="0">
                <a:latin typeface="Georgia"/>
                <a:cs typeface="Georgia"/>
              </a:rPr>
              <a:t>EXISTING</a:t>
            </a:r>
            <a:r>
              <a:rPr sz="4800" b="0" spc="-225" dirty="0">
                <a:latin typeface="Georgia"/>
                <a:cs typeface="Georgia"/>
              </a:rPr>
              <a:t> </a:t>
            </a:r>
            <a:r>
              <a:rPr sz="4800" b="0" spc="-10" dirty="0">
                <a:latin typeface="Georgia"/>
                <a:cs typeface="Georgia"/>
              </a:rPr>
              <a:t>SYSTEM</a:t>
            </a:r>
            <a:endParaRPr sz="480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101085" y="2748737"/>
            <a:ext cx="11581765" cy="587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065" indent="-1270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39065" algn="l"/>
              </a:tabLst>
            </a:pPr>
            <a:r>
              <a:rPr sz="2400" dirty="0">
                <a:latin typeface="Georgia"/>
                <a:cs typeface="Georgia"/>
              </a:rPr>
              <a:t>The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existing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mainly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follows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reactive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approach</a:t>
            </a:r>
            <a:r>
              <a:rPr sz="2400" b="1" spc="-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to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stress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management.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10" dirty="0">
                <a:latin typeface="Georgia"/>
                <a:cs typeface="Georgia"/>
              </a:rPr>
              <a:t>Stress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is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identified</a:t>
            </a:r>
            <a:r>
              <a:rPr sz="2400" spc="-1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only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after</a:t>
            </a:r>
            <a:r>
              <a:rPr sz="2400" b="1" spc="-15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symptoms</a:t>
            </a:r>
            <a:r>
              <a:rPr sz="2400" b="1" spc="-15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become</a:t>
            </a:r>
            <a:r>
              <a:rPr sz="2400" b="1" spc="-10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noticeable</a:t>
            </a:r>
            <a:r>
              <a:rPr sz="2400" b="1" spc="-11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or</a:t>
            </a:r>
            <a:r>
              <a:rPr sz="2400" b="1" spc="-11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severe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20" dirty="0">
                <a:latin typeface="Georgia"/>
                <a:cs typeface="Georgia"/>
              </a:rPr>
              <a:t>Methods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include</a:t>
            </a:r>
            <a:r>
              <a:rPr sz="2400" spc="-160" dirty="0">
                <a:latin typeface="Georgia"/>
                <a:cs typeface="Georgia"/>
              </a:rPr>
              <a:t> </a:t>
            </a:r>
            <a:r>
              <a:rPr sz="2400" spc="-55" dirty="0">
                <a:latin typeface="Georgia"/>
                <a:cs typeface="Georgia"/>
              </a:rPr>
              <a:t>self-</a:t>
            </a:r>
            <a:r>
              <a:rPr sz="2400" dirty="0">
                <a:latin typeface="Georgia"/>
                <a:cs typeface="Georgia"/>
              </a:rPr>
              <a:t>assessment</a:t>
            </a:r>
            <a:r>
              <a:rPr sz="2400" spc="-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surveys,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counseling,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and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medical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consultation.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dirty="0">
                <a:latin typeface="Georgia"/>
                <a:cs typeface="Georgia"/>
              </a:rPr>
              <a:t>Limited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use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of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b="1" spc="-20" dirty="0">
                <a:latin typeface="Georgia"/>
                <a:cs typeface="Georgia"/>
              </a:rPr>
              <a:t>behavioral</a:t>
            </a:r>
            <a:r>
              <a:rPr sz="2400" b="1" spc="-7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and</a:t>
            </a:r>
            <a:r>
              <a:rPr sz="2400" b="1" spc="-12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lifestyle</a:t>
            </a:r>
            <a:r>
              <a:rPr sz="2400" b="1" spc="-6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data</a:t>
            </a:r>
            <a:r>
              <a:rPr sz="2400" b="1" spc="-15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stress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analysis.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10" dirty="0">
                <a:latin typeface="Georgia"/>
                <a:cs typeface="Georgia"/>
              </a:rPr>
              <a:t>Some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30" dirty="0">
                <a:latin typeface="Georgia"/>
                <a:cs typeface="Georgia"/>
              </a:rPr>
              <a:t>applications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track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stress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using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basic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inputs</a:t>
            </a:r>
            <a:r>
              <a:rPr sz="2400" spc="-14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but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lack</a:t>
            </a:r>
            <a:r>
              <a:rPr sz="2400" b="1" spc="-13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continuous</a:t>
            </a:r>
            <a:r>
              <a:rPr sz="2400" b="1" spc="-12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monitoring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30" dirty="0">
                <a:latin typeface="Georgia"/>
                <a:cs typeface="Georgia"/>
              </a:rPr>
              <a:t>Recommendations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provided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are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usually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generic</a:t>
            </a:r>
            <a:r>
              <a:rPr sz="2400" b="1" spc="-7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and</a:t>
            </a:r>
            <a:r>
              <a:rPr sz="2400" b="1" spc="-15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not</a:t>
            </a:r>
            <a:r>
              <a:rPr sz="2400" b="1" spc="-15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personalized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spcBef>
                <a:spcPts val="5"/>
              </a:spcBef>
              <a:buSzPct val="95833"/>
              <a:buChar char="•"/>
              <a:tabLst>
                <a:tab pos="138430" algn="l"/>
              </a:tabLst>
            </a:pPr>
            <a:r>
              <a:rPr sz="2400" spc="-10" dirty="0">
                <a:latin typeface="Georgia"/>
                <a:cs typeface="Georgia"/>
              </a:rPr>
              <a:t>Existing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systems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do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not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effectively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predict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future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stress</a:t>
            </a:r>
            <a:r>
              <a:rPr sz="2400" b="1" spc="-10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risks</a:t>
            </a:r>
            <a:r>
              <a:rPr sz="2400" spc="-10" dirty="0">
                <a:latin typeface="Georgia"/>
                <a:cs typeface="Georgia"/>
              </a:rPr>
              <a:t>.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4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dirty="0">
                <a:latin typeface="Georgia"/>
                <a:cs typeface="Georgia"/>
              </a:rPr>
              <a:t>Less</a:t>
            </a:r>
            <a:r>
              <a:rPr sz="2400" spc="-10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effective</a:t>
            </a:r>
            <a:r>
              <a:rPr sz="2400" spc="-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</a:t>
            </a:r>
            <a:r>
              <a:rPr sz="2400" spc="-13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preventing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b="1" spc="-40" dirty="0">
                <a:latin typeface="Georgia"/>
                <a:cs typeface="Georgia"/>
              </a:rPr>
              <a:t>long-</a:t>
            </a:r>
            <a:r>
              <a:rPr sz="2400" b="1" dirty="0">
                <a:latin typeface="Georgia"/>
                <a:cs typeface="Georgia"/>
              </a:rPr>
              <a:t>term</a:t>
            </a:r>
            <a:r>
              <a:rPr sz="2400" b="1" spc="-70" dirty="0">
                <a:latin typeface="Georgia"/>
                <a:cs typeface="Georgia"/>
              </a:rPr>
              <a:t> </a:t>
            </a:r>
            <a:r>
              <a:rPr sz="2400" b="1" spc="-35" dirty="0">
                <a:latin typeface="Georgia"/>
                <a:cs typeface="Georgia"/>
              </a:rPr>
              <a:t>stress-</a:t>
            </a:r>
            <a:r>
              <a:rPr sz="2400" b="1" dirty="0">
                <a:latin typeface="Georgia"/>
                <a:cs typeface="Georgia"/>
              </a:rPr>
              <a:t>related</a:t>
            </a:r>
            <a:r>
              <a:rPr sz="2400" b="1" spc="-9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health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issues</a:t>
            </a:r>
            <a:r>
              <a:rPr sz="2800" spc="-10" dirty="0">
                <a:latin typeface="Georgia"/>
                <a:cs typeface="Georgia"/>
              </a:rPr>
              <a:t>.</a:t>
            </a:r>
            <a:endParaRPr sz="2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53865">
              <a:lnSpc>
                <a:spcPct val="100000"/>
              </a:lnSpc>
              <a:spcBef>
                <a:spcPts val="100"/>
              </a:spcBef>
            </a:pPr>
            <a:r>
              <a:rPr sz="5450" b="0" spc="-70" dirty="0">
                <a:latin typeface="Georgia"/>
                <a:cs typeface="Georgia"/>
              </a:rPr>
              <a:t>PROPOSED</a:t>
            </a:r>
            <a:r>
              <a:rPr sz="5450" b="0" spc="-290" dirty="0">
                <a:latin typeface="Georgia"/>
                <a:cs typeface="Georgia"/>
              </a:rPr>
              <a:t> </a:t>
            </a:r>
            <a:r>
              <a:rPr sz="5450" b="0" spc="-10" dirty="0">
                <a:latin typeface="Georgia"/>
                <a:cs typeface="Georgia"/>
              </a:rPr>
              <a:t>SYSTEM</a:t>
            </a:r>
            <a:endParaRPr sz="5450">
              <a:latin typeface="Georgia"/>
              <a:cs typeface="Georgia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0" indent="-127000">
              <a:lnSpc>
                <a:spcPct val="100000"/>
              </a:lnSpc>
              <a:spcBef>
                <a:spcPts val="100"/>
              </a:spcBef>
              <a:buSzPct val="95833"/>
              <a:buChar char="•"/>
              <a:tabLst>
                <a:tab pos="139700" algn="l"/>
              </a:tabLst>
            </a:pPr>
            <a:r>
              <a:rPr spc="-10" dirty="0"/>
              <a:t>The</a:t>
            </a:r>
            <a:r>
              <a:rPr spc="-135" dirty="0"/>
              <a:t> </a:t>
            </a:r>
            <a:r>
              <a:rPr spc="-10" dirty="0"/>
              <a:t>proposed</a:t>
            </a:r>
            <a:r>
              <a:rPr spc="-70" dirty="0"/>
              <a:t> </a:t>
            </a:r>
            <a:r>
              <a:rPr dirty="0"/>
              <a:t>system</a:t>
            </a:r>
            <a:r>
              <a:rPr spc="-90" dirty="0"/>
              <a:t> </a:t>
            </a:r>
            <a:r>
              <a:rPr dirty="0"/>
              <a:t>focuses</a:t>
            </a:r>
            <a:r>
              <a:rPr spc="-114" dirty="0"/>
              <a:t> </a:t>
            </a:r>
            <a:r>
              <a:rPr dirty="0"/>
              <a:t>on</a:t>
            </a:r>
            <a:r>
              <a:rPr spc="-105" dirty="0"/>
              <a:t> </a:t>
            </a:r>
            <a:r>
              <a:rPr b="1" dirty="0">
                <a:latin typeface="Georgia"/>
                <a:cs typeface="Georgia"/>
              </a:rPr>
              <a:t>proactive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stress</a:t>
            </a:r>
            <a:r>
              <a:rPr b="1" spc="-155" dirty="0">
                <a:latin typeface="Georgia"/>
                <a:cs typeface="Georgia"/>
              </a:rPr>
              <a:t> </a:t>
            </a:r>
            <a:r>
              <a:rPr b="1" spc="-35" dirty="0">
                <a:latin typeface="Georgia"/>
                <a:cs typeface="Georgia"/>
              </a:rPr>
              <a:t>management</a:t>
            </a:r>
            <a:r>
              <a:rPr b="1" spc="-125" dirty="0">
                <a:latin typeface="Georgia"/>
                <a:cs typeface="Georgia"/>
              </a:rPr>
              <a:t> </a:t>
            </a:r>
            <a:r>
              <a:rPr dirty="0"/>
              <a:t>by</a:t>
            </a:r>
            <a:r>
              <a:rPr spc="-85" dirty="0"/>
              <a:t> </a:t>
            </a:r>
            <a:r>
              <a:rPr spc="-10" dirty="0"/>
              <a:t>identifying</a:t>
            </a:r>
            <a:r>
              <a:rPr spc="-155" dirty="0"/>
              <a:t> </a:t>
            </a:r>
            <a:r>
              <a:rPr spc="-10" dirty="0"/>
              <a:t>stress</a:t>
            </a:r>
            <a:r>
              <a:rPr spc="-100" dirty="0"/>
              <a:t> </a:t>
            </a:r>
            <a:r>
              <a:rPr dirty="0"/>
              <a:t>at</a:t>
            </a:r>
            <a:r>
              <a:rPr spc="-105" dirty="0"/>
              <a:t> </a:t>
            </a:r>
            <a:r>
              <a:rPr dirty="0"/>
              <a:t>an</a:t>
            </a:r>
            <a:r>
              <a:rPr spc="-145" dirty="0"/>
              <a:t> </a:t>
            </a:r>
            <a:r>
              <a:rPr dirty="0"/>
              <a:t>early</a:t>
            </a:r>
            <a:r>
              <a:rPr spc="-70" dirty="0"/>
              <a:t> </a:t>
            </a:r>
            <a:r>
              <a:rPr spc="-10" dirty="0"/>
              <a:t>stage.</a:t>
            </a:r>
          </a:p>
          <a:p>
            <a:pPr>
              <a:lnSpc>
                <a:spcPct val="100000"/>
              </a:lnSpc>
              <a:spcBef>
                <a:spcPts val="450"/>
              </a:spcBef>
              <a:buFont typeface="Georgia"/>
              <a:buChar char="•"/>
            </a:pPr>
            <a:endParaRPr spc="-10" dirty="0"/>
          </a:p>
          <a:p>
            <a:pPr marL="21590" marR="537845" indent="-10795">
              <a:lnSpc>
                <a:spcPct val="100000"/>
              </a:lnSpc>
              <a:buSzPct val="95833"/>
              <a:buChar char="•"/>
              <a:tabLst>
                <a:tab pos="21590" algn="l"/>
                <a:tab pos="137795" algn="l"/>
              </a:tabLst>
            </a:pPr>
            <a:r>
              <a:rPr dirty="0"/>
              <a:t>	It</a:t>
            </a:r>
            <a:r>
              <a:rPr spc="-145" dirty="0"/>
              <a:t> </a:t>
            </a:r>
            <a:r>
              <a:rPr spc="-10" dirty="0"/>
              <a:t>continuously</a:t>
            </a:r>
            <a:r>
              <a:rPr spc="-160" dirty="0"/>
              <a:t> </a:t>
            </a:r>
            <a:r>
              <a:rPr spc="-10" dirty="0"/>
              <a:t>collects</a:t>
            </a:r>
            <a:r>
              <a:rPr spc="-130" dirty="0"/>
              <a:t> </a:t>
            </a:r>
            <a:r>
              <a:rPr b="1" spc="-20" dirty="0">
                <a:latin typeface="Georgia"/>
                <a:cs typeface="Georgia"/>
              </a:rPr>
              <a:t>behavioral</a:t>
            </a:r>
            <a:r>
              <a:rPr b="1" spc="-9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and</a:t>
            </a:r>
            <a:r>
              <a:rPr b="1" spc="-13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lifestyle</a:t>
            </a:r>
            <a:r>
              <a:rPr b="1" spc="-10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data</a:t>
            </a:r>
            <a:r>
              <a:rPr b="1" spc="-175" dirty="0">
                <a:latin typeface="Georgia"/>
                <a:cs typeface="Georgia"/>
              </a:rPr>
              <a:t> </a:t>
            </a:r>
            <a:r>
              <a:rPr dirty="0"/>
              <a:t>such</a:t>
            </a:r>
            <a:r>
              <a:rPr spc="-130" dirty="0"/>
              <a:t> </a:t>
            </a:r>
            <a:r>
              <a:rPr dirty="0"/>
              <a:t>as</a:t>
            </a:r>
            <a:r>
              <a:rPr spc="-95" dirty="0"/>
              <a:t> </a:t>
            </a:r>
            <a:r>
              <a:rPr dirty="0"/>
              <a:t>sleep</a:t>
            </a:r>
            <a:r>
              <a:rPr spc="-90" dirty="0"/>
              <a:t> </a:t>
            </a:r>
            <a:r>
              <a:rPr spc="-20" dirty="0"/>
              <a:t>patterns,</a:t>
            </a:r>
            <a:r>
              <a:rPr spc="-105" dirty="0"/>
              <a:t> </a:t>
            </a:r>
            <a:r>
              <a:rPr dirty="0"/>
              <a:t>physical</a:t>
            </a:r>
            <a:r>
              <a:rPr spc="-15" dirty="0"/>
              <a:t> </a:t>
            </a:r>
            <a:r>
              <a:rPr dirty="0"/>
              <a:t>activity,</a:t>
            </a:r>
            <a:r>
              <a:rPr spc="-145" dirty="0"/>
              <a:t> </a:t>
            </a:r>
            <a:r>
              <a:rPr spc="-10" dirty="0"/>
              <a:t>screen </a:t>
            </a:r>
            <a:r>
              <a:rPr dirty="0"/>
              <a:t>time,</a:t>
            </a:r>
            <a:r>
              <a:rPr spc="-130" dirty="0"/>
              <a:t> </a:t>
            </a:r>
            <a:r>
              <a:rPr spc="-10" dirty="0"/>
              <a:t>emotional</a:t>
            </a:r>
            <a:r>
              <a:rPr spc="-100" dirty="0"/>
              <a:t> </a:t>
            </a:r>
            <a:r>
              <a:rPr spc="-10" dirty="0"/>
              <a:t>state,</a:t>
            </a:r>
            <a:r>
              <a:rPr spc="-120" dirty="0"/>
              <a:t> </a:t>
            </a:r>
            <a:r>
              <a:rPr spc="-10" dirty="0"/>
              <a:t>diet,</a:t>
            </a:r>
            <a:r>
              <a:rPr spc="-125" dirty="0"/>
              <a:t> </a:t>
            </a:r>
            <a:r>
              <a:rPr dirty="0"/>
              <a:t>and</a:t>
            </a:r>
            <a:r>
              <a:rPr spc="-110" dirty="0"/>
              <a:t> </a:t>
            </a:r>
            <a:r>
              <a:rPr spc="-10" dirty="0"/>
              <a:t>social</a:t>
            </a:r>
            <a:r>
              <a:rPr spc="-105" dirty="0"/>
              <a:t> </a:t>
            </a:r>
            <a:r>
              <a:rPr spc="-10" dirty="0"/>
              <a:t>interaction.</a:t>
            </a:r>
          </a:p>
          <a:p>
            <a:pPr>
              <a:lnSpc>
                <a:spcPct val="100000"/>
              </a:lnSpc>
              <a:spcBef>
                <a:spcPts val="555"/>
              </a:spcBef>
              <a:buFont typeface="Georgia"/>
              <a:buChar char="•"/>
            </a:pPr>
            <a:endParaRPr spc="-10" dirty="0"/>
          </a:p>
          <a:p>
            <a:pPr marL="21590" marR="678815" indent="-8890">
              <a:lnSpc>
                <a:spcPct val="100000"/>
              </a:lnSpc>
              <a:buSzPct val="95833"/>
              <a:buFont typeface="Georgia"/>
              <a:buChar char="•"/>
              <a:tabLst>
                <a:tab pos="21590" algn="l"/>
                <a:tab pos="139700" algn="l"/>
              </a:tabLst>
            </a:pPr>
            <a:r>
              <a:rPr b="1" dirty="0">
                <a:latin typeface="Georgia"/>
                <a:cs typeface="Georgia"/>
              </a:rPr>
              <a:t>	Data</a:t>
            </a:r>
            <a:r>
              <a:rPr b="1" spc="-15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analytics</a:t>
            </a:r>
            <a:r>
              <a:rPr b="1" spc="-15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and</a:t>
            </a:r>
            <a:r>
              <a:rPr b="1" spc="-145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machine</a:t>
            </a:r>
            <a:r>
              <a:rPr b="1" spc="-10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learning</a:t>
            </a:r>
            <a:r>
              <a:rPr b="1" spc="-140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techniques</a:t>
            </a:r>
            <a:r>
              <a:rPr b="1" spc="-105" dirty="0">
                <a:latin typeface="Georgia"/>
                <a:cs typeface="Georgia"/>
              </a:rPr>
              <a:t> </a:t>
            </a:r>
            <a:r>
              <a:rPr dirty="0"/>
              <a:t>are</a:t>
            </a:r>
            <a:r>
              <a:rPr spc="-90" dirty="0"/>
              <a:t> </a:t>
            </a:r>
            <a:r>
              <a:rPr dirty="0"/>
              <a:t>used</a:t>
            </a:r>
            <a:r>
              <a:rPr spc="-125" dirty="0"/>
              <a:t> </a:t>
            </a:r>
            <a:r>
              <a:rPr dirty="0"/>
              <a:t>to</a:t>
            </a:r>
            <a:r>
              <a:rPr spc="-120" dirty="0"/>
              <a:t> </a:t>
            </a:r>
            <a:r>
              <a:rPr spc="-10" dirty="0"/>
              <a:t>analyze</a:t>
            </a:r>
            <a:r>
              <a:rPr spc="-75" dirty="0"/>
              <a:t> </a:t>
            </a:r>
            <a:r>
              <a:rPr spc="-10" dirty="0"/>
              <a:t>patterns</a:t>
            </a:r>
            <a:r>
              <a:rPr spc="-110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dirty="0"/>
              <a:t>predict</a:t>
            </a:r>
            <a:r>
              <a:rPr spc="-105" dirty="0"/>
              <a:t> </a:t>
            </a:r>
            <a:r>
              <a:rPr spc="-10" dirty="0"/>
              <a:t>stress levels.</a:t>
            </a:r>
          </a:p>
          <a:p>
            <a:pPr>
              <a:lnSpc>
                <a:spcPct val="100000"/>
              </a:lnSpc>
              <a:spcBef>
                <a:spcPts val="545"/>
              </a:spcBef>
              <a:buFont typeface="Georgia"/>
              <a:buChar char="•"/>
            </a:pPr>
            <a:endParaRPr spc="-10" dirty="0"/>
          </a:p>
          <a:p>
            <a:pPr marL="139700" indent="-127000">
              <a:lnSpc>
                <a:spcPct val="100000"/>
              </a:lnSpc>
              <a:spcBef>
                <a:spcPts val="5"/>
              </a:spcBef>
              <a:buSzPct val="95833"/>
              <a:buChar char="•"/>
              <a:tabLst>
                <a:tab pos="139700" algn="l"/>
              </a:tabLst>
            </a:pPr>
            <a:r>
              <a:rPr dirty="0"/>
              <a:t>The</a:t>
            </a:r>
            <a:r>
              <a:rPr spc="-95" dirty="0"/>
              <a:t> </a:t>
            </a:r>
            <a:r>
              <a:rPr dirty="0"/>
              <a:t>system</a:t>
            </a:r>
            <a:r>
              <a:rPr spc="-95" dirty="0"/>
              <a:t> </a:t>
            </a:r>
            <a:r>
              <a:rPr spc="-10" dirty="0"/>
              <a:t>continuously</a:t>
            </a:r>
            <a:r>
              <a:rPr spc="-135" dirty="0"/>
              <a:t> </a:t>
            </a:r>
            <a:r>
              <a:rPr spc="-20" dirty="0"/>
              <a:t>monitors</a:t>
            </a:r>
            <a:r>
              <a:rPr spc="-100" dirty="0"/>
              <a:t> </a:t>
            </a:r>
            <a:r>
              <a:rPr dirty="0"/>
              <a:t>user</a:t>
            </a:r>
            <a:r>
              <a:rPr spc="-95" dirty="0"/>
              <a:t> </a:t>
            </a:r>
            <a:r>
              <a:rPr dirty="0"/>
              <a:t>behavior</a:t>
            </a:r>
            <a:r>
              <a:rPr spc="-60" dirty="0"/>
              <a:t> </a:t>
            </a:r>
            <a:r>
              <a:rPr dirty="0"/>
              <a:t>to</a:t>
            </a:r>
            <a:r>
              <a:rPr spc="-114" dirty="0"/>
              <a:t> </a:t>
            </a:r>
            <a:r>
              <a:rPr dirty="0"/>
              <a:t>detect</a:t>
            </a:r>
            <a:r>
              <a:rPr spc="-75" dirty="0"/>
              <a:t> </a:t>
            </a:r>
            <a:r>
              <a:rPr b="1" dirty="0">
                <a:latin typeface="Georgia"/>
                <a:cs typeface="Georgia"/>
              </a:rPr>
              <a:t>early</a:t>
            </a:r>
            <a:r>
              <a:rPr b="1" spc="-95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warning</a:t>
            </a:r>
            <a:r>
              <a:rPr b="1" spc="-11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signs</a:t>
            </a:r>
            <a:r>
              <a:rPr b="1" spc="-15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of</a:t>
            </a:r>
            <a:r>
              <a:rPr b="1" spc="-114" dirty="0">
                <a:latin typeface="Georgia"/>
                <a:cs typeface="Georgia"/>
              </a:rPr>
              <a:t> </a:t>
            </a:r>
            <a:r>
              <a:rPr b="1" spc="-10" dirty="0">
                <a:latin typeface="Georgia"/>
                <a:cs typeface="Georgia"/>
              </a:rPr>
              <a:t>stress</a:t>
            </a:r>
            <a:r>
              <a:rPr spc="-10" dirty="0"/>
              <a:t>.</a:t>
            </a:r>
          </a:p>
          <a:p>
            <a:pPr>
              <a:lnSpc>
                <a:spcPct val="100000"/>
              </a:lnSpc>
              <a:spcBef>
                <a:spcPts val="450"/>
              </a:spcBef>
              <a:buFont typeface="Georgia"/>
              <a:buChar char="•"/>
            </a:pPr>
            <a:endParaRPr spc="-10" dirty="0"/>
          </a:p>
          <a:p>
            <a:pPr marL="139065" indent="-127000">
              <a:lnSpc>
                <a:spcPct val="100000"/>
              </a:lnSpc>
              <a:buSzPct val="95833"/>
              <a:buChar char="•"/>
              <a:tabLst>
                <a:tab pos="139065" algn="l"/>
              </a:tabLst>
            </a:pPr>
            <a:r>
              <a:rPr spc="-10" dirty="0"/>
              <a:t>Based</a:t>
            </a:r>
            <a:r>
              <a:rPr spc="-95" dirty="0"/>
              <a:t> </a:t>
            </a:r>
            <a:r>
              <a:rPr dirty="0"/>
              <a:t>on</a:t>
            </a:r>
            <a:r>
              <a:rPr spc="-110" dirty="0"/>
              <a:t> </a:t>
            </a:r>
            <a:r>
              <a:rPr dirty="0"/>
              <a:t>the</a:t>
            </a:r>
            <a:r>
              <a:rPr spc="-114" dirty="0"/>
              <a:t> </a:t>
            </a:r>
            <a:r>
              <a:rPr dirty="0"/>
              <a:t>analysis,</a:t>
            </a:r>
            <a:r>
              <a:rPr spc="-30" dirty="0"/>
              <a:t> </a:t>
            </a:r>
            <a:r>
              <a:rPr b="1" spc="-10" dirty="0">
                <a:latin typeface="Georgia"/>
                <a:cs typeface="Georgia"/>
              </a:rPr>
              <a:t>personalized</a:t>
            </a:r>
            <a:r>
              <a:rPr b="1" spc="-145" dirty="0">
                <a:latin typeface="Georgia"/>
                <a:cs typeface="Georgia"/>
              </a:rPr>
              <a:t> </a:t>
            </a:r>
            <a:r>
              <a:rPr b="1" spc="-25" dirty="0">
                <a:latin typeface="Georgia"/>
                <a:cs typeface="Georgia"/>
              </a:rPr>
              <a:t>recommendations</a:t>
            </a:r>
            <a:r>
              <a:rPr b="1" spc="-13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and</a:t>
            </a:r>
            <a:r>
              <a:rPr b="1" spc="-140" dirty="0">
                <a:latin typeface="Georgia"/>
                <a:cs typeface="Georgia"/>
              </a:rPr>
              <a:t> </a:t>
            </a:r>
            <a:r>
              <a:rPr b="1" dirty="0">
                <a:latin typeface="Georgia"/>
                <a:cs typeface="Georgia"/>
              </a:rPr>
              <a:t>alerts</a:t>
            </a:r>
            <a:r>
              <a:rPr b="1" spc="-135" dirty="0">
                <a:latin typeface="Georgia"/>
                <a:cs typeface="Georgia"/>
              </a:rPr>
              <a:t> </a:t>
            </a:r>
            <a:r>
              <a:rPr dirty="0"/>
              <a:t>are</a:t>
            </a:r>
            <a:r>
              <a:rPr spc="-80" dirty="0"/>
              <a:t> </a:t>
            </a:r>
            <a:r>
              <a:rPr spc="-20" dirty="0"/>
              <a:t>provided</a:t>
            </a:r>
            <a:r>
              <a:rPr spc="-95" dirty="0"/>
              <a:t> </a:t>
            </a:r>
            <a:r>
              <a:rPr dirty="0"/>
              <a:t>to</a:t>
            </a:r>
            <a:r>
              <a:rPr spc="-110" dirty="0"/>
              <a:t> </a:t>
            </a:r>
            <a:r>
              <a:rPr spc="-10" dirty="0"/>
              <a:t>help</a:t>
            </a:r>
            <a:r>
              <a:rPr spc="-90" dirty="0"/>
              <a:t> </a:t>
            </a:r>
            <a:r>
              <a:rPr spc="-10" dirty="0"/>
              <a:t>users</a:t>
            </a:r>
            <a:r>
              <a:rPr spc="-100" dirty="0"/>
              <a:t> </a:t>
            </a:r>
            <a:r>
              <a:rPr spc="-10" dirty="0"/>
              <a:t>manage</a:t>
            </a: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spc="-25" dirty="0"/>
              <a:t>stress</a:t>
            </a:r>
            <a:r>
              <a:rPr spc="-90" dirty="0"/>
              <a:t> </a:t>
            </a:r>
            <a:r>
              <a:rPr spc="-10" dirty="0"/>
              <a:t>effectively.</a:t>
            </a: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pc="-10" dirty="0"/>
          </a:p>
          <a:p>
            <a:pPr marL="139700" indent="-127000">
              <a:lnSpc>
                <a:spcPct val="100000"/>
              </a:lnSpc>
              <a:buSzPct val="95833"/>
              <a:buChar char="•"/>
              <a:tabLst>
                <a:tab pos="139700" algn="l"/>
              </a:tabLst>
            </a:pPr>
            <a:r>
              <a:rPr spc="-10" dirty="0"/>
              <a:t>This</a:t>
            </a:r>
            <a:r>
              <a:rPr spc="-125" dirty="0"/>
              <a:t> </a:t>
            </a:r>
            <a:r>
              <a:rPr spc="-10" dirty="0"/>
              <a:t>approach</a:t>
            </a:r>
            <a:r>
              <a:rPr spc="-65" dirty="0"/>
              <a:t> </a:t>
            </a:r>
            <a:r>
              <a:rPr spc="-10" dirty="0"/>
              <a:t>helps</a:t>
            </a:r>
            <a:r>
              <a:rPr spc="-95" dirty="0"/>
              <a:t> </a:t>
            </a:r>
            <a:r>
              <a:rPr spc="-10" dirty="0"/>
              <a:t>improve</a:t>
            </a:r>
            <a:r>
              <a:rPr spc="-90" dirty="0"/>
              <a:t> </a:t>
            </a:r>
            <a:r>
              <a:rPr b="1" spc="-10" dirty="0">
                <a:latin typeface="Georgia"/>
                <a:cs typeface="Georgia"/>
              </a:rPr>
              <a:t>mental</a:t>
            </a:r>
            <a:r>
              <a:rPr b="1" spc="-155" dirty="0">
                <a:latin typeface="Georgia"/>
                <a:cs typeface="Georgia"/>
              </a:rPr>
              <a:t> </a:t>
            </a:r>
            <a:r>
              <a:rPr b="1" spc="-55" dirty="0">
                <a:latin typeface="Georgia"/>
                <a:cs typeface="Georgia"/>
              </a:rPr>
              <a:t>well-</a:t>
            </a:r>
            <a:r>
              <a:rPr b="1" dirty="0">
                <a:latin typeface="Georgia"/>
                <a:cs typeface="Georgia"/>
              </a:rPr>
              <a:t>being</a:t>
            </a:r>
            <a:r>
              <a:rPr dirty="0"/>
              <a:t>,</a:t>
            </a:r>
            <a:r>
              <a:rPr spc="-100" dirty="0"/>
              <a:t> </a:t>
            </a:r>
            <a:r>
              <a:rPr spc="-10" dirty="0"/>
              <a:t>prevent</a:t>
            </a:r>
            <a:r>
              <a:rPr spc="-130" dirty="0"/>
              <a:t> </a:t>
            </a:r>
            <a:r>
              <a:rPr spc="-20" dirty="0"/>
              <a:t>severe</a:t>
            </a:r>
            <a:r>
              <a:rPr spc="-114" dirty="0"/>
              <a:t> </a:t>
            </a:r>
            <a:r>
              <a:rPr spc="-20" dirty="0"/>
              <a:t>stress,</a:t>
            </a:r>
            <a:r>
              <a:rPr spc="-95" dirty="0"/>
              <a:t> </a:t>
            </a:r>
            <a:r>
              <a:rPr spc="-10" dirty="0"/>
              <a:t>and</a:t>
            </a:r>
            <a:r>
              <a:rPr spc="-135" dirty="0"/>
              <a:t> </a:t>
            </a:r>
            <a:r>
              <a:rPr spc="-10" dirty="0"/>
              <a:t>reduce</a:t>
            </a:r>
            <a:r>
              <a:rPr spc="-125" dirty="0"/>
              <a:t> </a:t>
            </a:r>
            <a:r>
              <a:rPr spc="-55" dirty="0"/>
              <a:t>long-</a:t>
            </a:r>
            <a:r>
              <a:rPr dirty="0"/>
              <a:t>term</a:t>
            </a:r>
            <a:r>
              <a:rPr spc="-80" dirty="0"/>
              <a:t> </a:t>
            </a:r>
            <a:r>
              <a:rPr spc="-10" dirty="0"/>
              <a:t>health</a:t>
            </a:r>
            <a:r>
              <a:rPr spc="-105" dirty="0"/>
              <a:t> </a:t>
            </a:r>
            <a:r>
              <a:rPr spc="-10" dirty="0"/>
              <a:t>risks.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5" dirty="0"/>
              <a:t>SO</a:t>
            </a:r>
            <a:r>
              <a:rPr spc="30" dirty="0"/>
              <a:t>F</a:t>
            </a:r>
            <a:r>
              <a:rPr spc="40" dirty="0"/>
              <a:t>T</a:t>
            </a:r>
            <a:r>
              <a:rPr spc="-570" dirty="0"/>
              <a:t>W</a:t>
            </a:r>
            <a:r>
              <a:rPr spc="30" dirty="0"/>
              <a:t>A</a:t>
            </a:r>
            <a:r>
              <a:rPr spc="15" dirty="0"/>
              <a:t>R</a:t>
            </a:r>
            <a:r>
              <a:rPr spc="-5" dirty="0"/>
              <a:t>E</a:t>
            </a:r>
            <a:r>
              <a:rPr spc="-2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spc="30" dirty="0"/>
              <a:t>H</a:t>
            </a:r>
            <a:r>
              <a:rPr spc="35" dirty="0"/>
              <a:t>AR</a:t>
            </a:r>
            <a:r>
              <a:rPr spc="60" dirty="0"/>
              <a:t>D</a:t>
            </a:r>
            <a:r>
              <a:rPr spc="-575" dirty="0"/>
              <a:t>W</a:t>
            </a:r>
            <a:r>
              <a:rPr spc="40" dirty="0"/>
              <a:t>A</a:t>
            </a:r>
            <a:r>
              <a:rPr spc="25" dirty="0"/>
              <a:t>R</a:t>
            </a:r>
            <a:r>
              <a:rPr spc="5" dirty="0"/>
              <a:t>E</a:t>
            </a:r>
            <a:r>
              <a:rPr spc="-275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16590" y="2887472"/>
            <a:ext cx="515937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35" dirty="0">
                <a:latin typeface="Times New Roman"/>
                <a:cs typeface="Times New Roman"/>
              </a:rPr>
              <a:t>Hardware</a:t>
            </a:r>
            <a:r>
              <a:rPr sz="3700" b="1" spc="-150" dirty="0">
                <a:latin typeface="Times New Roman"/>
                <a:cs typeface="Times New Roman"/>
              </a:rPr>
              <a:t> </a:t>
            </a:r>
            <a:r>
              <a:rPr sz="3700" b="1" spc="-60" dirty="0">
                <a:latin typeface="Times New Roman"/>
                <a:cs typeface="Times New Roman"/>
              </a:rPr>
              <a:t>Requirements</a:t>
            </a:r>
            <a:r>
              <a:rPr sz="3700" b="1" spc="-190" dirty="0">
                <a:latin typeface="Times New Roman"/>
                <a:cs typeface="Times New Roman"/>
              </a:rPr>
              <a:t> </a:t>
            </a:r>
            <a:r>
              <a:rPr sz="3700" b="1" spc="-50" dirty="0">
                <a:latin typeface="Times New Roman"/>
                <a:cs typeface="Times New Roman"/>
              </a:rPr>
              <a:t>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2030" y="2888106"/>
            <a:ext cx="4906645" cy="589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700" b="1" spc="-20" dirty="0">
                <a:latin typeface="Times New Roman"/>
                <a:cs typeface="Times New Roman"/>
              </a:rPr>
              <a:t>Software</a:t>
            </a:r>
            <a:r>
              <a:rPr sz="3700" b="1" spc="-80" dirty="0">
                <a:latin typeface="Times New Roman"/>
                <a:cs typeface="Times New Roman"/>
              </a:rPr>
              <a:t> </a:t>
            </a:r>
            <a:r>
              <a:rPr sz="3700" b="1" spc="-65" dirty="0">
                <a:latin typeface="Times New Roman"/>
                <a:cs typeface="Times New Roman"/>
              </a:rPr>
              <a:t>Requirements</a:t>
            </a:r>
            <a:r>
              <a:rPr sz="3700" b="1" spc="-245" dirty="0">
                <a:latin typeface="Times New Roman"/>
                <a:cs typeface="Times New Roman"/>
              </a:rPr>
              <a:t> </a:t>
            </a:r>
            <a:r>
              <a:rPr sz="3700" b="1" spc="-50" dirty="0">
                <a:latin typeface="Times New Roman"/>
                <a:cs typeface="Times New Roman"/>
              </a:rPr>
              <a:t>: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0908" y="3915536"/>
            <a:ext cx="8324215" cy="5009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indent="-127000">
              <a:lnSpc>
                <a:spcPct val="100000"/>
              </a:lnSpc>
              <a:spcBef>
                <a:spcPts val="100"/>
              </a:spcBef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dirty="0">
                <a:latin typeface="Georgia"/>
                <a:cs typeface="Georgia"/>
              </a:rPr>
              <a:t>Operating</a:t>
            </a:r>
            <a:r>
              <a:rPr sz="2400" b="1" spc="-11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System</a:t>
            </a:r>
            <a:r>
              <a:rPr sz="2400" dirty="0">
                <a:latin typeface="Georgia"/>
                <a:cs typeface="Georgia"/>
              </a:rPr>
              <a:t>: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Windows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/</a:t>
            </a:r>
            <a:r>
              <a:rPr sz="2400" spc="-8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Linux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/</a:t>
            </a:r>
            <a:r>
              <a:rPr sz="2400" spc="-9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macOS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Programming</a:t>
            </a:r>
            <a:r>
              <a:rPr sz="2400" b="1" spc="-8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Language</a:t>
            </a:r>
            <a:r>
              <a:rPr sz="2400" spc="-10" dirty="0">
                <a:latin typeface="Georgia"/>
                <a:cs typeface="Georgia"/>
              </a:rPr>
              <a:t>: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Python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Development</a:t>
            </a:r>
            <a:r>
              <a:rPr sz="2400" b="1" spc="-75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Environment</a:t>
            </a:r>
            <a:r>
              <a:rPr sz="2400" spc="-10" dirty="0">
                <a:latin typeface="Georgia"/>
                <a:cs typeface="Georgia"/>
              </a:rPr>
              <a:t>:</a:t>
            </a:r>
            <a:r>
              <a:rPr sz="2400" spc="-12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Jupyter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Notebook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/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VS</a:t>
            </a:r>
            <a:r>
              <a:rPr sz="2400" spc="-7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Code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spcBef>
                <a:spcPts val="5"/>
              </a:spcBef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Libraries</a:t>
            </a:r>
            <a:r>
              <a:rPr sz="2400" b="1" spc="-90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&amp;</a:t>
            </a:r>
            <a:r>
              <a:rPr sz="2400" b="1" spc="-114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Frameworks</a:t>
            </a:r>
            <a:r>
              <a:rPr sz="2400" spc="-10" dirty="0">
                <a:latin typeface="Georgia"/>
                <a:cs typeface="Georgia"/>
              </a:rPr>
              <a:t>:</a:t>
            </a: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10" dirty="0">
                <a:latin typeface="Georgia"/>
                <a:cs typeface="Georgia"/>
              </a:rPr>
              <a:t>NumPy</a:t>
            </a: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10" dirty="0">
                <a:latin typeface="Georgia"/>
                <a:cs typeface="Georgia"/>
              </a:rPr>
              <a:t>Pandas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spcBef>
                <a:spcPts val="5"/>
              </a:spcBef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dirty="0">
                <a:latin typeface="Georgia"/>
                <a:cs typeface="Georgia"/>
              </a:rPr>
              <a:t>Tools</a:t>
            </a:r>
            <a:r>
              <a:rPr sz="2400" dirty="0">
                <a:latin typeface="Georgia"/>
                <a:cs typeface="Georgia"/>
              </a:rPr>
              <a:t>: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Anaconda</a:t>
            </a:r>
            <a:r>
              <a:rPr sz="2400" spc="-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Distribution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Database</a:t>
            </a:r>
            <a:r>
              <a:rPr sz="2400" spc="-10" dirty="0">
                <a:latin typeface="Georgia"/>
                <a:cs typeface="Georgia"/>
              </a:rPr>
              <a:t>:</a:t>
            </a:r>
            <a:r>
              <a:rPr sz="2400" spc="-1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MySQL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/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SQLite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/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MongoDB</a:t>
            </a:r>
            <a:endParaRPr sz="24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18114" y="3912870"/>
            <a:ext cx="6123305" cy="4226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indent="-127000">
              <a:lnSpc>
                <a:spcPct val="100000"/>
              </a:lnSpc>
              <a:spcBef>
                <a:spcPts val="100"/>
              </a:spcBef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Processor</a:t>
            </a:r>
            <a:r>
              <a:rPr sz="2400" spc="-10" dirty="0">
                <a:latin typeface="Georgia"/>
                <a:cs typeface="Georgia"/>
              </a:rPr>
              <a:t>:</a:t>
            </a:r>
            <a:r>
              <a:rPr sz="2400" spc="-114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Intel</a:t>
            </a:r>
            <a:r>
              <a:rPr sz="2400" spc="-9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Core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i3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or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above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9065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9065" algn="l"/>
              </a:tabLst>
            </a:pPr>
            <a:r>
              <a:rPr sz="2400" b="1" dirty="0">
                <a:latin typeface="Georgia"/>
                <a:cs typeface="Georgia"/>
              </a:rPr>
              <a:t>Hard</a:t>
            </a:r>
            <a:r>
              <a:rPr sz="2400" b="1" spc="-95" dirty="0">
                <a:latin typeface="Georgia"/>
                <a:cs typeface="Georgia"/>
              </a:rPr>
              <a:t> </a:t>
            </a:r>
            <a:r>
              <a:rPr sz="2400" b="1" dirty="0">
                <a:latin typeface="Georgia"/>
                <a:cs typeface="Georgia"/>
              </a:rPr>
              <a:t>Disk</a:t>
            </a:r>
            <a:r>
              <a:rPr sz="2400" dirty="0">
                <a:latin typeface="Georgia"/>
                <a:cs typeface="Georgia"/>
              </a:rPr>
              <a:t>:</a:t>
            </a:r>
            <a:r>
              <a:rPr sz="2400" spc="-8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Minimum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20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GB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free</a:t>
            </a:r>
            <a:r>
              <a:rPr sz="2400" spc="-4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space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50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spcBef>
                <a:spcPts val="5"/>
              </a:spcBef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dirty="0">
                <a:latin typeface="Georgia"/>
                <a:cs typeface="Georgia"/>
              </a:rPr>
              <a:t>RAM</a:t>
            </a:r>
            <a:r>
              <a:rPr sz="2400" dirty="0">
                <a:latin typeface="Georgia"/>
                <a:cs typeface="Georgia"/>
              </a:rPr>
              <a:t>: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Minimum</a:t>
            </a:r>
            <a:r>
              <a:rPr sz="2400" spc="-14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4</a:t>
            </a:r>
            <a:r>
              <a:rPr sz="2400" spc="-10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GB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(8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GB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recommended)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Input</a:t>
            </a:r>
            <a:r>
              <a:rPr sz="2400" b="1" spc="-15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Devices</a:t>
            </a:r>
            <a:r>
              <a:rPr sz="2400" spc="-10" dirty="0">
                <a:latin typeface="Georgia"/>
                <a:cs typeface="Georgia"/>
              </a:rPr>
              <a:t>:</a:t>
            </a:r>
            <a:r>
              <a:rPr sz="2400" spc="-13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Keyboard,</a:t>
            </a:r>
            <a:r>
              <a:rPr sz="2400" spc="-7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Mouse</a:t>
            </a:r>
            <a:endParaRPr sz="24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5"/>
              </a:spcBef>
              <a:buFont typeface="Georgia"/>
              <a:buChar char="•"/>
            </a:pP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Font typeface="Georgia"/>
              <a:buChar char="•"/>
              <a:tabLst>
                <a:tab pos="138430" algn="l"/>
              </a:tabLst>
            </a:pPr>
            <a:r>
              <a:rPr sz="2400" b="1" spc="-10" dirty="0">
                <a:latin typeface="Georgia"/>
                <a:cs typeface="Georgia"/>
              </a:rPr>
              <a:t>Optional</a:t>
            </a:r>
            <a:r>
              <a:rPr sz="2400" b="1" spc="-80" dirty="0">
                <a:latin typeface="Georgia"/>
                <a:cs typeface="Georgia"/>
              </a:rPr>
              <a:t> </a:t>
            </a:r>
            <a:r>
              <a:rPr sz="2400" b="1" spc="-10" dirty="0">
                <a:latin typeface="Georgia"/>
                <a:cs typeface="Georgia"/>
              </a:rPr>
              <a:t>Devices</a:t>
            </a:r>
            <a:r>
              <a:rPr sz="2400" spc="-10" dirty="0">
                <a:latin typeface="Georgia"/>
                <a:cs typeface="Georgia"/>
              </a:rPr>
              <a:t>:</a:t>
            </a: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25" dirty="0">
                <a:latin typeface="Georgia"/>
                <a:cs typeface="Georgia"/>
              </a:rPr>
              <a:t>Wearable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sensors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spc="-20" dirty="0">
                <a:latin typeface="Georgia"/>
                <a:cs typeface="Georgia"/>
              </a:rPr>
              <a:t>(smartwatch,</a:t>
            </a:r>
            <a:r>
              <a:rPr sz="2400" spc="-55" dirty="0">
                <a:latin typeface="Georgia"/>
                <a:cs typeface="Georgia"/>
              </a:rPr>
              <a:t> </a:t>
            </a:r>
            <a:r>
              <a:rPr sz="2400" spc="-25" dirty="0">
                <a:latin typeface="Georgia"/>
                <a:cs typeface="Georgia"/>
              </a:rPr>
              <a:t>fitness</a:t>
            </a:r>
            <a:r>
              <a:rPr sz="2400" spc="-155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band)</a:t>
            </a:r>
            <a:endParaRPr sz="2400">
              <a:latin typeface="Georgia"/>
              <a:cs typeface="Georgia"/>
            </a:endParaRPr>
          </a:p>
          <a:p>
            <a:pPr marL="138430" indent="-127000">
              <a:lnSpc>
                <a:spcPct val="100000"/>
              </a:lnSpc>
              <a:buSzPct val="95833"/>
              <a:buChar char="•"/>
              <a:tabLst>
                <a:tab pos="138430" algn="l"/>
              </a:tabLst>
            </a:pPr>
            <a:r>
              <a:rPr sz="2400" spc="-20" dirty="0">
                <a:latin typeface="Georgia"/>
                <a:cs typeface="Georgia"/>
              </a:rPr>
              <a:t>Smartphone</a:t>
            </a:r>
            <a:r>
              <a:rPr sz="2400" spc="-6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for</a:t>
            </a:r>
            <a:r>
              <a:rPr sz="2400" spc="-110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data</a:t>
            </a:r>
            <a:r>
              <a:rPr sz="2400" spc="-12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collection</a:t>
            </a:r>
            <a:endParaRPr sz="24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3628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2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5379" y="2789681"/>
            <a:ext cx="1130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l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05600" y="1562100"/>
            <a:ext cx="3517392" cy="819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7428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UML</a:t>
            </a:r>
            <a:r>
              <a:rPr spc="-15" dirty="0"/>
              <a:t> </a:t>
            </a:r>
            <a:r>
              <a:rPr spc="-10" dirty="0"/>
              <a:t>Diagrams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35379" y="1379346"/>
            <a:ext cx="30943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Georgia"/>
                <a:cs typeface="Georgia"/>
              </a:rPr>
              <a:t>USE</a:t>
            </a:r>
            <a:r>
              <a:rPr sz="2400" spc="-65" dirty="0">
                <a:latin typeface="Georgia"/>
                <a:cs typeface="Georgia"/>
              </a:rPr>
              <a:t> </a:t>
            </a:r>
            <a:r>
              <a:rPr sz="2400" dirty="0">
                <a:latin typeface="Georgia"/>
                <a:cs typeface="Georgia"/>
              </a:rPr>
              <a:t>CASE</a:t>
            </a:r>
            <a:r>
              <a:rPr sz="2400" spc="-50" dirty="0">
                <a:latin typeface="Georgia"/>
                <a:cs typeface="Georgia"/>
              </a:rPr>
              <a:t> </a:t>
            </a:r>
            <a:r>
              <a:rPr sz="2400" spc="-10" dirty="0">
                <a:latin typeface="Georgia"/>
                <a:cs typeface="Georgia"/>
              </a:rPr>
              <a:t>DIAGRAM: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2011679"/>
            <a:ext cx="11582400" cy="7146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COMPONENT</a:t>
            </a:r>
            <a:r>
              <a:rPr spc="-10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42434" y="2789681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638300"/>
            <a:ext cx="11506200" cy="76702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SEQUENCE</a:t>
            </a:r>
            <a:r>
              <a:rPr spc="-4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8215" y="2789681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6600" y="1790700"/>
            <a:ext cx="11582400" cy="77221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ACTIVITY</a:t>
            </a:r>
            <a:r>
              <a:rPr spc="-90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76215" y="2789681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2832" y="1257300"/>
            <a:ext cx="75438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233628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0"/>
              </a:spcBef>
            </a:pPr>
            <a:r>
              <a:rPr dirty="0"/>
              <a:t>DEPLOYMENT</a:t>
            </a:r>
            <a:r>
              <a:rPr spc="-35" dirty="0"/>
              <a:t> </a:t>
            </a:r>
            <a:r>
              <a:rPr spc="-10" dirty="0"/>
              <a:t>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24015" y="2789681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1866900"/>
            <a:ext cx="11963400" cy="79750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</a:t>
            </a:r>
            <a:r>
              <a:rPr spc="-10" dirty="0"/>
              <a:t> DIAGRAM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95415" y="2789681"/>
            <a:ext cx="156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Georgia"/>
                <a:cs typeface="Georgia"/>
              </a:rPr>
              <a:t>1</a:t>
            </a:r>
            <a:endParaRPr sz="2400">
              <a:latin typeface="Georgia"/>
              <a:cs typeface="Georg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1485900"/>
            <a:ext cx="12268200" cy="81793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6455" y="2476500"/>
            <a:ext cx="6934200" cy="6629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CAFD520-3D3A-9102-6A63-A862A14F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344" y="2476500"/>
            <a:ext cx="6765545" cy="66142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2095500"/>
            <a:ext cx="7325868" cy="6096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325B001-D6B2-E0C8-1088-F1B492501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1591" y="2095500"/>
            <a:ext cx="7988477" cy="609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04FAA1-0EF7-18BE-4AA2-E2B74CEE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26" y="2019300"/>
            <a:ext cx="8900160" cy="5562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EA9996-63AB-569A-DB38-154EAAAF59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348" y="1866900"/>
            <a:ext cx="8547652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777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E1B149-84D3-2C1C-F074-2623E00B7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62100"/>
            <a:ext cx="807243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6F13789-1988-4D90-BC3E-A576118FB3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238" y="1562100"/>
            <a:ext cx="8072438" cy="677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585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85799D-13E8-01B6-043B-BAC5EC1EF2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569243"/>
            <a:ext cx="6181310" cy="71485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8F9C3C-A3CE-8D87-E816-F0F1D63AF2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1600" y="1569243"/>
            <a:ext cx="7810500" cy="705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53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9965F6-302B-8FD1-0334-855347798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90701"/>
            <a:ext cx="7704770" cy="541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42D05-1483-B248-F157-B5613DFE9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5800" y="1770744"/>
            <a:ext cx="9753600" cy="5948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99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E83290-7242-1CCB-A931-16098C206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67" y="1916555"/>
            <a:ext cx="8542129" cy="57415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FBA2B4-FE0A-5668-CCF3-CBE891BC3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906" y="1911112"/>
            <a:ext cx="8588978" cy="574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3631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3DF80-6CFE-0A1B-DC31-944C0D96C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00100"/>
            <a:ext cx="12420600" cy="836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4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8340" y="3997578"/>
            <a:ext cx="8926195" cy="1832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850" b="0" dirty="0">
                <a:latin typeface="Georgia"/>
                <a:cs typeface="Georgia"/>
              </a:rPr>
              <a:t>THANK</a:t>
            </a:r>
            <a:r>
              <a:rPr sz="11850" b="0" spc="-105" dirty="0">
                <a:latin typeface="Georgia"/>
                <a:cs typeface="Georgia"/>
              </a:rPr>
              <a:t> </a:t>
            </a:r>
            <a:r>
              <a:rPr sz="11850" b="0" spc="-25" dirty="0">
                <a:latin typeface="Georgia"/>
                <a:cs typeface="Georgia"/>
              </a:rPr>
              <a:t>YOU</a:t>
            </a:r>
            <a:endParaRPr sz="11850">
              <a:latin typeface="Georgia"/>
              <a:cs typeface="Georgi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6920483"/>
            <a:ext cx="925194" cy="83820"/>
          </a:xfrm>
          <a:custGeom>
            <a:avLst/>
            <a:gdLst/>
            <a:ahLst/>
            <a:cxnLst/>
            <a:rect l="l" t="t" r="r" b="b"/>
            <a:pathLst>
              <a:path w="925194" h="83820">
                <a:moveTo>
                  <a:pt x="807529" y="508"/>
                </a:moveTo>
                <a:lnTo>
                  <a:pt x="774103" y="254"/>
                </a:lnTo>
                <a:lnTo>
                  <a:pt x="741464" y="254"/>
                </a:lnTo>
                <a:lnTo>
                  <a:pt x="709485" y="508"/>
                </a:lnTo>
                <a:lnTo>
                  <a:pt x="807529" y="508"/>
                </a:lnTo>
                <a:close/>
              </a:path>
              <a:path w="925194" h="83820">
                <a:moveTo>
                  <a:pt x="924572" y="37084"/>
                </a:moveTo>
                <a:lnTo>
                  <a:pt x="919137" y="19177"/>
                </a:lnTo>
                <a:lnTo>
                  <a:pt x="908519" y="7620"/>
                </a:lnTo>
                <a:lnTo>
                  <a:pt x="893368" y="1397"/>
                </a:lnTo>
                <a:lnTo>
                  <a:pt x="874331" y="0"/>
                </a:lnTo>
                <a:lnTo>
                  <a:pt x="842467" y="508"/>
                </a:lnTo>
                <a:lnTo>
                  <a:pt x="0" y="1016"/>
                </a:lnTo>
                <a:lnTo>
                  <a:pt x="0" y="83566"/>
                </a:lnTo>
                <a:lnTo>
                  <a:pt x="220522" y="81534"/>
                </a:lnTo>
                <a:lnTo>
                  <a:pt x="578269" y="81534"/>
                </a:lnTo>
                <a:lnTo>
                  <a:pt x="772541" y="78994"/>
                </a:lnTo>
                <a:lnTo>
                  <a:pt x="872896" y="75946"/>
                </a:lnTo>
                <a:lnTo>
                  <a:pt x="922362" y="52832"/>
                </a:lnTo>
                <a:lnTo>
                  <a:pt x="924572" y="370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087623"/>
            <a:ext cx="1030605" cy="1583690"/>
          </a:xfrm>
          <a:custGeom>
            <a:avLst/>
            <a:gdLst/>
            <a:ahLst/>
            <a:cxnLst/>
            <a:rect l="l" t="t" r="r" b="b"/>
            <a:pathLst>
              <a:path w="1030605" h="1583689">
                <a:moveTo>
                  <a:pt x="960501" y="0"/>
                </a:moveTo>
                <a:lnTo>
                  <a:pt x="251409" y="634"/>
                </a:lnTo>
                <a:lnTo>
                  <a:pt x="0" y="1270"/>
                </a:lnTo>
                <a:lnTo>
                  <a:pt x="0" y="82296"/>
                </a:lnTo>
                <a:lnTo>
                  <a:pt x="141071" y="81279"/>
                </a:lnTo>
                <a:lnTo>
                  <a:pt x="233870" y="80899"/>
                </a:lnTo>
                <a:lnTo>
                  <a:pt x="908786" y="80009"/>
                </a:lnTo>
                <a:lnTo>
                  <a:pt x="941298" y="111886"/>
                </a:lnTo>
                <a:lnTo>
                  <a:pt x="942721" y="423418"/>
                </a:lnTo>
                <a:lnTo>
                  <a:pt x="944067" y="579247"/>
                </a:lnTo>
                <a:lnTo>
                  <a:pt x="945629" y="680847"/>
                </a:lnTo>
                <a:lnTo>
                  <a:pt x="946785" y="779906"/>
                </a:lnTo>
                <a:lnTo>
                  <a:pt x="947712" y="928624"/>
                </a:lnTo>
                <a:lnTo>
                  <a:pt x="947648" y="1523364"/>
                </a:lnTo>
                <a:lnTo>
                  <a:pt x="951090" y="1548002"/>
                </a:lnTo>
                <a:lnTo>
                  <a:pt x="960513" y="1567179"/>
                </a:lnTo>
                <a:lnTo>
                  <a:pt x="974661" y="1579499"/>
                </a:lnTo>
                <a:lnTo>
                  <a:pt x="992327" y="1583181"/>
                </a:lnTo>
                <a:lnTo>
                  <a:pt x="1009205" y="1578228"/>
                </a:lnTo>
                <a:lnTo>
                  <a:pt x="1022362" y="1565910"/>
                </a:lnTo>
                <a:lnTo>
                  <a:pt x="1030046" y="1549018"/>
                </a:lnTo>
                <a:lnTo>
                  <a:pt x="1030046" y="1440052"/>
                </a:lnTo>
                <a:lnTo>
                  <a:pt x="1028852" y="1396491"/>
                </a:lnTo>
                <a:lnTo>
                  <a:pt x="1027849" y="732409"/>
                </a:lnTo>
                <a:lnTo>
                  <a:pt x="1021943" y="702310"/>
                </a:lnTo>
                <a:lnTo>
                  <a:pt x="1020013" y="672083"/>
                </a:lnTo>
                <a:lnTo>
                  <a:pt x="1021854" y="641857"/>
                </a:lnTo>
                <a:lnTo>
                  <a:pt x="1027226" y="611631"/>
                </a:lnTo>
                <a:lnTo>
                  <a:pt x="1023048" y="300100"/>
                </a:lnTo>
                <a:lnTo>
                  <a:pt x="1021486" y="163829"/>
                </a:lnTo>
                <a:lnTo>
                  <a:pt x="1021435" y="61975"/>
                </a:lnTo>
                <a:lnTo>
                  <a:pt x="1019644" y="28448"/>
                </a:lnTo>
                <a:lnTo>
                  <a:pt x="1011669" y="9778"/>
                </a:lnTo>
                <a:lnTo>
                  <a:pt x="993330" y="1650"/>
                </a:lnTo>
                <a:lnTo>
                  <a:pt x="9605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7369028" y="6920483"/>
            <a:ext cx="919480" cy="83820"/>
          </a:xfrm>
          <a:custGeom>
            <a:avLst/>
            <a:gdLst/>
            <a:ahLst/>
            <a:cxnLst/>
            <a:rect l="l" t="t" r="r" b="b"/>
            <a:pathLst>
              <a:path w="919480" h="83820">
                <a:moveTo>
                  <a:pt x="214503" y="508"/>
                </a:moveTo>
                <a:lnTo>
                  <a:pt x="182626" y="254"/>
                </a:lnTo>
                <a:lnTo>
                  <a:pt x="150114" y="254"/>
                </a:lnTo>
                <a:lnTo>
                  <a:pt x="116840" y="508"/>
                </a:lnTo>
                <a:lnTo>
                  <a:pt x="214503" y="508"/>
                </a:lnTo>
                <a:close/>
              </a:path>
              <a:path w="919480" h="83820">
                <a:moveTo>
                  <a:pt x="918972" y="1016"/>
                </a:moveTo>
                <a:lnTo>
                  <a:pt x="81915" y="508"/>
                </a:lnTo>
                <a:lnTo>
                  <a:pt x="50038" y="0"/>
                </a:lnTo>
                <a:lnTo>
                  <a:pt x="31115" y="1397"/>
                </a:lnTo>
                <a:lnTo>
                  <a:pt x="16002" y="7620"/>
                </a:lnTo>
                <a:lnTo>
                  <a:pt x="5461" y="19177"/>
                </a:lnTo>
                <a:lnTo>
                  <a:pt x="0" y="37084"/>
                </a:lnTo>
                <a:lnTo>
                  <a:pt x="2159" y="52832"/>
                </a:lnTo>
                <a:lnTo>
                  <a:pt x="51562" y="75946"/>
                </a:lnTo>
                <a:lnTo>
                  <a:pt x="151638" y="78994"/>
                </a:lnTo>
                <a:lnTo>
                  <a:pt x="345440" y="81534"/>
                </a:lnTo>
                <a:lnTo>
                  <a:pt x="702310" y="81534"/>
                </a:lnTo>
                <a:lnTo>
                  <a:pt x="918972" y="83439"/>
                </a:lnTo>
                <a:lnTo>
                  <a:pt x="918972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63871" y="3087623"/>
            <a:ext cx="1024255" cy="1583690"/>
          </a:xfrm>
          <a:custGeom>
            <a:avLst/>
            <a:gdLst/>
            <a:ahLst/>
            <a:cxnLst/>
            <a:rect l="l" t="t" r="r" b="b"/>
            <a:pathLst>
              <a:path w="1024255" h="1583689">
                <a:moveTo>
                  <a:pt x="69342" y="0"/>
                </a:moveTo>
                <a:lnTo>
                  <a:pt x="18288" y="9778"/>
                </a:lnTo>
                <a:lnTo>
                  <a:pt x="8636" y="61975"/>
                </a:lnTo>
                <a:lnTo>
                  <a:pt x="8509" y="163829"/>
                </a:lnTo>
                <a:lnTo>
                  <a:pt x="6985" y="300100"/>
                </a:lnTo>
                <a:lnTo>
                  <a:pt x="2794" y="611631"/>
                </a:lnTo>
                <a:lnTo>
                  <a:pt x="8128" y="641857"/>
                </a:lnTo>
                <a:lnTo>
                  <a:pt x="10033" y="672083"/>
                </a:lnTo>
                <a:lnTo>
                  <a:pt x="8128" y="702310"/>
                </a:lnTo>
                <a:lnTo>
                  <a:pt x="2159" y="732409"/>
                </a:lnTo>
                <a:lnTo>
                  <a:pt x="1397" y="1345438"/>
                </a:lnTo>
                <a:lnTo>
                  <a:pt x="1143" y="1396491"/>
                </a:lnTo>
                <a:lnTo>
                  <a:pt x="0" y="1440179"/>
                </a:lnTo>
                <a:lnTo>
                  <a:pt x="0" y="1549018"/>
                </a:lnTo>
                <a:lnTo>
                  <a:pt x="7620" y="1565910"/>
                </a:lnTo>
                <a:lnTo>
                  <a:pt x="20828" y="1578228"/>
                </a:lnTo>
                <a:lnTo>
                  <a:pt x="37592" y="1583181"/>
                </a:lnTo>
                <a:lnTo>
                  <a:pt x="55245" y="1579499"/>
                </a:lnTo>
                <a:lnTo>
                  <a:pt x="69342" y="1567179"/>
                </a:lnTo>
                <a:lnTo>
                  <a:pt x="78740" y="1548002"/>
                </a:lnTo>
                <a:lnTo>
                  <a:pt x="82169" y="1523364"/>
                </a:lnTo>
                <a:lnTo>
                  <a:pt x="82042" y="928624"/>
                </a:lnTo>
                <a:lnTo>
                  <a:pt x="82931" y="779906"/>
                </a:lnTo>
                <a:lnTo>
                  <a:pt x="85725" y="579247"/>
                </a:lnTo>
                <a:lnTo>
                  <a:pt x="86741" y="475360"/>
                </a:lnTo>
                <a:lnTo>
                  <a:pt x="88519" y="111886"/>
                </a:lnTo>
                <a:lnTo>
                  <a:pt x="120904" y="80009"/>
                </a:lnTo>
                <a:lnTo>
                  <a:pt x="794131" y="80899"/>
                </a:lnTo>
                <a:lnTo>
                  <a:pt x="886587" y="81279"/>
                </a:lnTo>
                <a:lnTo>
                  <a:pt x="1024128" y="82296"/>
                </a:lnTo>
                <a:lnTo>
                  <a:pt x="1024128" y="1143"/>
                </a:lnTo>
                <a:lnTo>
                  <a:pt x="776605" y="634"/>
                </a:lnTo>
                <a:lnTo>
                  <a:pt x="6934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942</Words>
  <Application>Microsoft Office PowerPoint</Application>
  <PresentationFormat>Custom</PresentationFormat>
  <Paragraphs>126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Georgia</vt:lpstr>
      <vt:lpstr>Times New Roman</vt:lpstr>
      <vt:lpstr>Office Theme</vt:lpstr>
      <vt:lpstr>TITLE</vt:lpstr>
      <vt:lpstr>ABSTRACT</vt:lpstr>
      <vt:lpstr>INTRODUCTION</vt:lpstr>
      <vt:lpstr>LITERATURE SURVEY</vt:lpstr>
      <vt:lpstr>EXISTING SYSTEM</vt:lpstr>
      <vt:lpstr>PROPOSED SYSTEM</vt:lpstr>
      <vt:lpstr>SOFTWARE &amp; HARDWARE REQUIREMENTS</vt:lpstr>
      <vt:lpstr>SYSTEM ARCHITECTURE</vt:lpstr>
      <vt:lpstr>UML Diagrams</vt:lpstr>
      <vt:lpstr>COMPONENT DIAGRAM</vt:lpstr>
      <vt:lpstr>SEQUENCE DIAGRAM</vt:lpstr>
      <vt:lpstr>ACTIVITY DIAGRAM</vt:lpstr>
      <vt:lpstr>DEPLOYMENT DIAGRAM</vt:lpstr>
      <vt:lpstr>CLASS DIAGRAM</vt:lpstr>
      <vt:lpstr>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Admin</dc:creator>
  <cp:lastModifiedBy>samatha pothuganti</cp:lastModifiedBy>
  <cp:revision>1</cp:revision>
  <dcterms:created xsi:type="dcterms:W3CDTF">2026-03-24T13:31:17Z</dcterms:created>
  <dcterms:modified xsi:type="dcterms:W3CDTF">2026-03-24T13:56:01Z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2026-03-24T00:00:00Z</vt:filetime>
  </property>
  <property fmtid="{D5CDD505-2E9C-101B-9397-08002B2CF9AE}" pid="5" name="Producer">
    <vt:lpwstr>Microsoft® PowerPoint® 2016</vt:lpwstr>
  </property>
</Properties>
</file>